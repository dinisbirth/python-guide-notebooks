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7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GB" sz="2000" b="0" strike="noStrike" spc="-1">
                <a:latin typeface="Arial"/>
              </a:rPr>
              <a:t>Click to edit the notes'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GB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GB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GB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21F1D3AC-B82C-4DBE-967D-9F99E0EAA27F}" type="slidenum">
              <a:rPr lang="en-GB" sz="1400" b="0" strike="noStrike" spc="-1">
                <a:latin typeface="Times New Roman"/>
              </a:rPr>
              <a:t>‹#›</a:t>
            </a:fld>
            <a:endParaRPr lang="en-GB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76973F32-4432-4EA2-8EF7-CDF13C83062C}" type="slidenum">
              <a:rPr lang="en-GB" sz="1400" b="0" strike="noStrike" spc="-1">
                <a:latin typeface="Arial"/>
                <a:ea typeface="DejaVu Sans"/>
              </a:rPr>
              <a:t>1</a:t>
            </a:fld>
            <a:endParaRPr lang="en-GB" sz="1400" b="0" strike="noStrike" spc="-1">
              <a:latin typeface="Times New Roman"/>
            </a:endParaRPr>
          </a:p>
        </p:txBody>
      </p:sp>
      <p:sp>
        <p:nvSpPr>
          <p:cNvPr id="145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GB" sz="2000" b="0" strike="noStrike" spc="-1">
                <a:latin typeface="Arial"/>
              </a:rPr>
              <a:t>Ways we might try to solve this median_house_value issue are:</a:t>
            </a:r>
          </a:p>
          <a:p>
            <a:pPr marL="216000" indent="-216000">
              <a:lnSpc>
                <a:spcPct val="100000"/>
              </a:lnSpc>
              <a:buNone/>
            </a:pPr>
            <a:r>
              <a:rPr lang="en-GB" sz="2000" b="0" strike="noStrike" spc="-1">
                <a:latin typeface="Arial"/>
              </a:rPr>
              <a:t>- Collect extra data, or try to gain the original data for those districts where prices have been capped</a:t>
            </a:r>
          </a:p>
          <a:p>
            <a:pPr marL="216000" indent="-216000">
              <a:lnSpc>
                <a:spcPct val="100000"/>
              </a:lnSpc>
              <a:buNone/>
            </a:pPr>
            <a:r>
              <a:rPr lang="en-GB" sz="2000" b="0" strike="noStrike" spc="-1">
                <a:latin typeface="Arial"/>
              </a:rPr>
              <a:t>- Remove those districts from the training and tests sets, and don’t use them at all</a:t>
            </a:r>
          </a:p>
          <a:p>
            <a:pPr marL="216000" indent="-216000">
              <a:lnSpc>
                <a:spcPct val="100000"/>
              </a:lnSpc>
              <a:buNone/>
            </a:pPr>
            <a:endParaRPr lang="en-GB" sz="2000" b="0" strike="noStrike" spc="-1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7C0106F2-4A75-46FD-8A75-3D035C891145}" type="slidenum">
              <a:rPr lang="en-GB" sz="1400" b="0" strike="noStrike" spc="-1">
                <a:latin typeface="Arial"/>
                <a:ea typeface="DejaVu Sans"/>
              </a:rPr>
              <a:t>13</a:t>
            </a:fld>
            <a:endParaRPr lang="en-GB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GB" sz="2000" b="0" strike="noStrike" spc="-1">
                <a:latin typeface="Arial"/>
              </a:rPr>
              <a:t>Ways we might try to solve this median_house_value issue are:</a:t>
            </a:r>
          </a:p>
          <a:p>
            <a:pPr marL="216000" indent="-216000">
              <a:lnSpc>
                <a:spcPct val="100000"/>
              </a:lnSpc>
              <a:buNone/>
            </a:pPr>
            <a:r>
              <a:rPr lang="en-GB" sz="2000" b="0" strike="noStrike" spc="-1">
                <a:latin typeface="Arial"/>
              </a:rPr>
              <a:t>- Collect extra data, or try to gain the original data for those districts where prices have been capped</a:t>
            </a:r>
          </a:p>
          <a:p>
            <a:pPr marL="216000" indent="-216000">
              <a:lnSpc>
                <a:spcPct val="100000"/>
              </a:lnSpc>
              <a:buNone/>
            </a:pPr>
            <a:r>
              <a:rPr lang="en-GB" sz="2000" b="0" strike="noStrike" spc="-1">
                <a:latin typeface="Arial"/>
              </a:rPr>
              <a:t>- Remove those districts from the training and tests sets, and don’t use them at all</a:t>
            </a:r>
          </a:p>
          <a:p>
            <a:pPr marL="216000" indent="-216000">
              <a:lnSpc>
                <a:spcPct val="100000"/>
              </a:lnSpc>
              <a:buNone/>
            </a:pPr>
            <a:endParaRPr lang="en-GB" sz="2000" b="0" strike="noStrike" spc="-1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A65F1B7-872E-468B-A2ED-63813908D155}" type="slidenum">
              <a:rPr lang="en-GB" sz="1400" b="0" strike="noStrike" spc="-1">
                <a:latin typeface="Arial"/>
                <a:ea typeface="DejaVu Sans"/>
              </a:rPr>
              <a:t>14</a:t>
            </a:fld>
            <a:endParaRPr lang="en-GB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9D14F147-7BB2-482E-AEA0-D23A775D0896}" type="slidenum">
              <a:rPr lang="en-GB" sz="1400" b="0" strike="noStrike" spc="-1">
                <a:latin typeface="Arial"/>
                <a:ea typeface="DejaVu Sans"/>
              </a:rPr>
              <a:t>17</a:t>
            </a:fld>
            <a:endParaRPr lang="en-GB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D585CD73-7B65-4C04-A5FC-EFFE09F90193}" type="slidenum">
              <a:rPr lang="en-GB" sz="1400" b="0" strike="noStrike" spc="-1">
                <a:latin typeface="Arial"/>
                <a:ea typeface="DejaVu Sans"/>
              </a:rPr>
              <a:t>18</a:t>
            </a:fld>
            <a:endParaRPr lang="en-GB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D260851C-EBC7-477C-8966-64A97AA3E52F}" type="slidenum">
              <a:rPr lang="en-GB" sz="1400" b="0" strike="noStrike" spc="-1">
                <a:latin typeface="Arial"/>
                <a:ea typeface="DejaVu Sans"/>
              </a:rPr>
              <a:t>19</a:t>
            </a:fld>
            <a:endParaRPr lang="en-GB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81CDE5B-CD97-49B8-948D-F204A7DB8CF7}" type="slidenum">
              <a:rPr lang="en-GB" sz="1400" b="0" strike="noStrike" spc="-1">
                <a:latin typeface="Arial"/>
                <a:ea typeface="DejaVu Sans"/>
              </a:rPr>
              <a:t>20</a:t>
            </a:fld>
            <a:endParaRPr lang="en-GB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/>
          </p:nvPr>
        </p:nvSpPr>
        <p:spPr>
          <a:xfrm>
            <a:off x="50400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/>
          </p:nvPr>
        </p:nvSpPr>
        <p:spPr>
          <a:xfrm>
            <a:off x="3447360" y="516492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722736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EB150201-5D18-454D-8C51-9D4A2EFD4958}" type="slidenum">
              <a:rPr lang="en-GB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‹#›</a:t>
            </a:fld>
            <a:endParaRPr lang="en-GB" sz="1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15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300" b="0" strike="noStrike" spc="-1">
                <a:latin typeface="Arial"/>
              </a:rPr>
              <a:t>Click to edit Master title style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latin typeface="Arial"/>
              </a:rPr>
              <a:t>Click to edit Master text styles</a:t>
            </a:r>
            <a:endParaRPr lang="en-GB" sz="24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GB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GB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GB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GB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464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792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EA0BE99E-671D-4CAF-9586-D790F2A8C524}" type="slidenum">
              <a:rPr lang="en-GB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‹#›</a:t>
            </a:fld>
            <a:endParaRPr lang="en-GB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iosci.global/customer-stories-en/data-visualization-cheat-sheet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787320"/>
            <a:ext cx="90712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4400" b="0" strike="noStrike" spc="-1">
                <a:solidFill>
                  <a:srgbClr val="FFFFFF"/>
                </a:solidFill>
                <a:latin typeface="Arial"/>
              </a:rPr>
              <a:t>C7201</a:t>
            </a:r>
            <a:br/>
            <a:r>
              <a:rPr lang="en-GB" sz="4400" b="0" strike="noStrike" spc="-1">
                <a:solidFill>
                  <a:srgbClr val="FFFFFF"/>
                </a:solidFill>
                <a:latin typeface="Arial"/>
              </a:rPr>
              <a:t>Data Analysis Basics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In this session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We’re going to take a second look at analysing a dataset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We’re going to be looking at this using a housing dataset, with the idea of predicting house prices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Taking an initial look at our</a:t>
            </a:r>
            <a:br/>
            <a:r>
              <a:rPr lang="en-GB" sz="3300" b="0" strike="noStrike" spc="-1">
                <a:latin typeface="Arial"/>
              </a:rPr>
              <a:t>dataset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We can start by using the .head() function to take a look at the data – simple, but it’s usually a sensible first step in any data analysis.</a:t>
            </a:r>
          </a:p>
        </p:txBody>
      </p:sp>
      <p:pic>
        <p:nvPicPr>
          <p:cNvPr id="93" name="Picture 4"/>
          <p:cNvPicPr/>
          <p:nvPr/>
        </p:nvPicPr>
        <p:blipFill>
          <a:blip r:embed="rId2"/>
          <a:stretch/>
        </p:blipFill>
        <p:spPr>
          <a:xfrm>
            <a:off x="420840" y="2398320"/>
            <a:ext cx="9154440" cy="261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Taking an initial look at our</a:t>
            </a:r>
            <a:br/>
            <a:r>
              <a:rPr lang="en-GB" sz="3300" b="0" strike="noStrike" spc="-1">
                <a:latin typeface="Arial"/>
              </a:rPr>
              <a:t>dataset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It also makes sense to use the basic .info() function</a:t>
            </a:r>
          </a:p>
        </p:txBody>
      </p:sp>
      <p:pic>
        <p:nvPicPr>
          <p:cNvPr id="96" name="Picture 4"/>
          <p:cNvPicPr/>
          <p:nvPr/>
        </p:nvPicPr>
        <p:blipFill>
          <a:blip r:embed="rId2"/>
          <a:stretch/>
        </p:blipFill>
        <p:spPr>
          <a:xfrm>
            <a:off x="2234160" y="1890000"/>
            <a:ext cx="6134760" cy="3554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What can we see from this?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2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Each row appears to represent one district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There are 10 total attributes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There are 20640 total rows of data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This dataset is a magical unicorn of a dataset, with almost no missing values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The total_bedrooms feature is the only feature with some missing information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Most features are numerical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ocean_proximity is the only non-numerical feature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Taking an initial look at our</a:t>
            </a:r>
            <a:br/>
            <a:r>
              <a:rPr lang="en-GB" sz="3300" b="0" strike="noStrike" spc="-1">
                <a:latin typeface="Arial"/>
              </a:rPr>
              <a:t>dataset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One final function which will give us some basic info on the dataset is the “describe()” function – running that gives us this output:</a:t>
            </a:r>
          </a:p>
        </p:txBody>
      </p:sp>
      <p:pic>
        <p:nvPicPr>
          <p:cNvPr id="101" name="Picture 7"/>
          <p:cNvPicPr/>
          <p:nvPr/>
        </p:nvPicPr>
        <p:blipFill>
          <a:blip r:embed="rId2"/>
          <a:stretch/>
        </p:blipFill>
        <p:spPr>
          <a:xfrm>
            <a:off x="644400" y="2333160"/>
            <a:ext cx="8930880" cy="2702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Taking an initial look at our</a:t>
            </a:r>
            <a:br/>
            <a:r>
              <a:rPr lang="en-GB" sz="3300" b="0" strike="noStrike" spc="-1">
                <a:latin typeface="Arial"/>
              </a:rPr>
              <a:t>dataset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This gives us an idea of some of the rough statistics around our data. We basically have the count, mean, std, min, 25, 50 and 75 </a:t>
            </a:r>
            <a:r>
              <a:rPr lang="en-GB" sz="2400" b="0" i="1" strike="noStrike" spc="-1">
                <a:latin typeface="Arial"/>
              </a:rPr>
              <a:t>percentiles</a:t>
            </a:r>
            <a:r>
              <a:rPr lang="en-GB" sz="2400" b="0" strike="noStrike" spc="-1">
                <a:latin typeface="Arial"/>
              </a:rPr>
              <a:t>, as well as the max value for each feature.</a:t>
            </a:r>
          </a:p>
        </p:txBody>
      </p:sp>
      <p:pic>
        <p:nvPicPr>
          <p:cNvPr id="104" name="Picture 7"/>
          <p:cNvPicPr/>
          <p:nvPr/>
        </p:nvPicPr>
        <p:blipFill>
          <a:blip r:embed="rId2"/>
          <a:stretch/>
        </p:blipFill>
        <p:spPr>
          <a:xfrm>
            <a:off x="574200" y="2742120"/>
            <a:ext cx="8930880" cy="2702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Taking an initial look at our</a:t>
            </a:r>
            <a:br/>
            <a:r>
              <a:rPr lang="en-GB" sz="3300" b="0" strike="noStrike" spc="-1">
                <a:latin typeface="Arial"/>
              </a:rPr>
              <a:t>dataset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This gives us an idea of some of the rough statistics around our data. We basically have the count, mean, std, min, 25, 50 and 75 </a:t>
            </a:r>
            <a:r>
              <a:rPr lang="en-GB" sz="2400" b="0" i="1" strike="noStrike" spc="-1">
                <a:latin typeface="Arial"/>
              </a:rPr>
              <a:t>percentiles</a:t>
            </a:r>
            <a:r>
              <a:rPr lang="en-GB" sz="2400" b="0" strike="noStrike" spc="-1">
                <a:latin typeface="Arial"/>
              </a:rPr>
              <a:t>, as well as the max value for each feature.</a:t>
            </a:r>
          </a:p>
        </p:txBody>
      </p:sp>
      <p:pic>
        <p:nvPicPr>
          <p:cNvPr id="107" name="Picture 7"/>
          <p:cNvPicPr/>
          <p:nvPr/>
        </p:nvPicPr>
        <p:blipFill>
          <a:blip r:embed="rId2"/>
          <a:stretch/>
        </p:blipFill>
        <p:spPr>
          <a:xfrm>
            <a:off x="574200" y="2742120"/>
            <a:ext cx="8930880" cy="2702520"/>
          </a:xfrm>
          <a:prstGeom prst="rect">
            <a:avLst/>
          </a:prstGeom>
          <a:ln w="0">
            <a:noFill/>
          </a:ln>
        </p:spPr>
      </p:pic>
      <p:sp>
        <p:nvSpPr>
          <p:cNvPr id="108" name="Cloud 3"/>
          <p:cNvSpPr/>
          <p:nvPr/>
        </p:nvSpPr>
        <p:spPr>
          <a:xfrm>
            <a:off x="504000" y="509040"/>
            <a:ext cx="8930880" cy="4800240"/>
          </a:xfrm>
          <a:prstGeom prst="cloud">
            <a:avLst/>
          </a:prstGeom>
          <a:solidFill>
            <a:schemeClr val="accent1">
              <a:alpha val="92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200000"/>
              </a:lnSpc>
              <a:buNone/>
            </a:pPr>
            <a:r>
              <a:rPr lang="en-GB" sz="1800" b="0" i="1" strike="noStrike" spc="-1">
                <a:solidFill>
                  <a:srgbClr val="FFFFFF"/>
                </a:solidFill>
                <a:latin typeface="Calibri"/>
              </a:rPr>
              <a:t>Percentiles</a:t>
            </a:r>
            <a:r>
              <a:rPr lang="en-GB" sz="1800" b="0" strike="noStrike" spc="-1">
                <a:solidFill>
                  <a:srgbClr val="FFFFFF"/>
                </a:solidFill>
                <a:latin typeface="Calibri"/>
              </a:rPr>
              <a:t> give us the number of values that a given percentage of observations fall below in a group of observations. I.e. in this example, 25% of districts have a housing_median_age less than 18, and 50% have housing_median_age less than 29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Lets have a look at</a:t>
            </a:r>
            <a:br/>
            <a:r>
              <a:rPr lang="en-GB" sz="3300" b="0" strike="noStrike" spc="-1">
                <a:latin typeface="Arial"/>
              </a:rPr>
              <a:t>ocean_proximity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As it seems like a potential issue that’s going to need solving, lets have an initial look at ocean_proximity.</a:t>
            </a: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endParaRPr lang="en-GB" sz="2400" b="0" strike="noStrike" spc="-1">
              <a:latin typeface="Arial"/>
            </a:endParaRPr>
          </a:p>
        </p:txBody>
      </p:sp>
      <p:pic>
        <p:nvPicPr>
          <p:cNvPr id="111" name="Picture 4"/>
          <p:cNvPicPr/>
          <p:nvPr/>
        </p:nvPicPr>
        <p:blipFill>
          <a:blip r:embed="rId2"/>
          <a:stretch/>
        </p:blipFill>
        <p:spPr>
          <a:xfrm>
            <a:off x="2895480" y="2225880"/>
            <a:ext cx="5058000" cy="2257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Lets have a look at</a:t>
            </a:r>
            <a:br/>
            <a:r>
              <a:rPr lang="en-GB" sz="3300" b="0" strike="noStrike" spc="-1">
                <a:latin typeface="Arial"/>
              </a:rPr>
              <a:t>ocean_proximity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555372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As it seems like a potential issue that’s going to need solving, lets have an initial look at ocean_proximity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This should be pretty easy to solve, it’s just a categorised variable, with 5 categories available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We will likely need this to be numerical, to allow for us to use our machine learning models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We can solve this with something like </a:t>
            </a:r>
            <a:r>
              <a:rPr lang="en-GB" sz="2400" b="0" i="1" strike="noStrike" spc="-1">
                <a:latin typeface="Arial"/>
              </a:rPr>
              <a:t>one-hot-encoding</a:t>
            </a:r>
            <a:endParaRPr lang="en-GB" sz="2400" b="0" strike="noStrike" spc="-1">
              <a:latin typeface="Arial"/>
            </a:endParaRPr>
          </a:p>
        </p:txBody>
      </p:sp>
      <p:pic>
        <p:nvPicPr>
          <p:cNvPr id="114" name="Picture 4"/>
          <p:cNvPicPr/>
          <p:nvPr/>
        </p:nvPicPr>
        <p:blipFill>
          <a:blip r:embed="rId2"/>
          <a:stretch/>
        </p:blipFill>
        <p:spPr>
          <a:xfrm>
            <a:off x="6058080" y="2174040"/>
            <a:ext cx="3641400" cy="1625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Starting to plot stuff!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901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This visualisation gives us a bunch of information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The median income doesn’t look like it’s in USD for starters</a:t>
            </a:r>
          </a:p>
        </p:txBody>
      </p:sp>
      <p:pic>
        <p:nvPicPr>
          <p:cNvPr id="117" name="Picture 4"/>
          <p:cNvPicPr/>
          <p:nvPr/>
        </p:nvPicPr>
        <p:blipFill>
          <a:blip r:embed="rId2"/>
          <a:stretch/>
        </p:blipFill>
        <p:spPr>
          <a:xfrm>
            <a:off x="5546160" y="1553400"/>
            <a:ext cx="3826080" cy="390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Starting to plot stuff!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901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This is because it’s been scaled to 0.5 – 15 (actually 0.4999-15.0001) and the numbers represent tens of thousands of dollars – i.e. a number 3 represents $30k</a:t>
            </a:r>
          </a:p>
        </p:txBody>
      </p:sp>
      <p:pic>
        <p:nvPicPr>
          <p:cNvPr id="120" name="Picture 4"/>
          <p:cNvPicPr/>
          <p:nvPr/>
        </p:nvPicPr>
        <p:blipFill>
          <a:blip r:embed="rId2"/>
          <a:stretch/>
        </p:blipFill>
        <p:spPr>
          <a:xfrm>
            <a:off x="5546160" y="1553400"/>
            <a:ext cx="3826080" cy="390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Starting to plot stuff!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901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000"/>
          </a:bodyPr>
          <a:lstStyle/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We can also see that housing age, and median house value are capped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The median house value is our target (what we’re going to try to predict with our regression) so may actually be an issue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The likelihood is that our models will never or rarely predict prices above 500k, certainly their predictions above that number are unlikely to be reliable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Whether that’s an issue or not, depends on the project – so in a real scenario would need to be checked</a:t>
            </a:r>
          </a:p>
        </p:txBody>
      </p:sp>
      <p:pic>
        <p:nvPicPr>
          <p:cNvPr id="123" name="Picture 4"/>
          <p:cNvPicPr/>
          <p:nvPr/>
        </p:nvPicPr>
        <p:blipFill>
          <a:blip r:embed="rId3"/>
          <a:stretch/>
        </p:blipFill>
        <p:spPr>
          <a:xfrm>
            <a:off x="5546160" y="1553400"/>
            <a:ext cx="3826080" cy="390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Starting to plot stuff!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901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6000"/>
          </a:bodyPr>
          <a:lstStyle/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Finally, we can see that all of the attributes are scaled differently – something we will need to address with normalisation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latin typeface="Arial"/>
              </a:rPr>
              <a:t>And the features are tail-heavy – they have more values to the right of the median than to the left – this may affect the performance of some machine learning models</a:t>
            </a:r>
          </a:p>
        </p:txBody>
      </p:sp>
      <p:pic>
        <p:nvPicPr>
          <p:cNvPr id="126" name="Picture 4"/>
          <p:cNvPicPr/>
          <p:nvPr/>
        </p:nvPicPr>
        <p:blipFill>
          <a:blip r:embed="rId3"/>
          <a:stretch/>
        </p:blipFill>
        <p:spPr>
          <a:xfrm>
            <a:off x="5546160" y="1553400"/>
            <a:ext cx="3826080" cy="390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Creating a Test Set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The next step is to start modifying our data set, ready for machine learning, and plotting further information.</a:t>
            </a: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Before we do that, we should split out a test set – you need to do it now before you look too much more at the data, or you’ll be in danger of introducing </a:t>
            </a:r>
            <a:r>
              <a:rPr lang="en-GB" sz="2400" b="0" i="1" strike="noStrike" spc="-1">
                <a:latin typeface="Arial"/>
              </a:rPr>
              <a:t>bias</a:t>
            </a:r>
            <a:r>
              <a:rPr lang="en-GB" sz="2400" b="0" strike="noStrike" spc="-1">
                <a:latin typeface="Arial"/>
              </a:rPr>
              <a:t> into your model, in this case </a:t>
            </a:r>
            <a:r>
              <a:rPr lang="en-GB" sz="2400" b="0" i="1" strike="noStrike" spc="-1">
                <a:latin typeface="Arial"/>
              </a:rPr>
              <a:t>data-snooping bias</a:t>
            </a:r>
            <a:r>
              <a:rPr lang="en-GB" sz="2400" b="0" strike="noStrike" spc="-1"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Okay so lets do that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Creating a test set naively involves just taking roughly 20% of our data, and setting it aside.</a:t>
            </a: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We can’t assume that the data is shuffled (it may be organised in some way) so we need to select a random 20% from our data in order to avoid inadvertently having either a biased test set – or even a test set which our models have no chance of working with, as we’ve removed an entire category of data from the training set.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So lets write a function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400" b="0" strike="noStrike" spc="-1">
              <a:latin typeface="Arial"/>
            </a:endParaRPr>
          </a:p>
        </p:txBody>
      </p:sp>
      <p:pic>
        <p:nvPicPr>
          <p:cNvPr id="133" name="Picture 4"/>
          <p:cNvPicPr/>
          <p:nvPr/>
        </p:nvPicPr>
        <p:blipFill>
          <a:blip r:embed="rId3"/>
          <a:stretch/>
        </p:blipFill>
        <p:spPr>
          <a:xfrm>
            <a:off x="1710720" y="1601640"/>
            <a:ext cx="6658560" cy="246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And contin.. Nope.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This works – but it has issues.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If we run the program again, we will get a different test/train set, and we may need to run this multiple times during our project</a:t>
            </a:r>
          </a:p>
          <a:p>
            <a:pPr marL="343080" indent="-34308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Over time, our machine learning model may even get to see the whole dataset, exactly what we’re trying to avoid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The simplest solution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3382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Is to simply set the random number seed:</a:t>
            </a: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endParaRPr lang="en-GB" sz="2400" b="0" strike="noStrike" spc="-1">
              <a:latin typeface="Arial"/>
            </a:endParaRPr>
          </a:p>
        </p:txBody>
      </p:sp>
      <p:pic>
        <p:nvPicPr>
          <p:cNvPr id="138" name="Picture 4"/>
          <p:cNvPicPr/>
          <p:nvPr/>
        </p:nvPicPr>
        <p:blipFill>
          <a:blip r:embed="rId3"/>
          <a:stretch/>
        </p:blipFill>
        <p:spPr>
          <a:xfrm>
            <a:off x="3221640" y="1539360"/>
            <a:ext cx="6353640" cy="3229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The simplest solution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3382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000"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This gives us the same result, provided the dataset is always identical. If we modify that dataset at all (add more data) we would have issues again.</a:t>
            </a: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endParaRPr lang="en-GB" sz="2400" b="0" strike="noStrike" spc="-1">
              <a:latin typeface="Arial"/>
            </a:endParaRPr>
          </a:p>
        </p:txBody>
      </p:sp>
      <p:pic>
        <p:nvPicPr>
          <p:cNvPr id="141" name="Picture 4"/>
          <p:cNvPicPr/>
          <p:nvPr/>
        </p:nvPicPr>
        <p:blipFill>
          <a:blip r:embed="rId3"/>
          <a:stretch/>
        </p:blipFill>
        <p:spPr>
          <a:xfrm>
            <a:off x="3221640" y="1539360"/>
            <a:ext cx="6353640" cy="3229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300" b="0" strike="noStrike" spc="-1">
                <a:latin typeface="Arial"/>
              </a:rPr>
              <a:t>Tutorial</a:t>
            </a:r>
            <a:endParaRPr lang="en-US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8000"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Within your groups, start to apply some of these techniques to your datasets</a:t>
            </a: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What insights can you glean from stats and information? Make notes of these to demonstrate this</a:t>
            </a: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What visualisations would help you to identify biases and errors in the data, as well as ongoing trends? There’s a good blog post here: </a:t>
            </a:r>
            <a:r>
              <a:rPr lang="en-GB" sz="2400" b="0" strike="noStrike" spc="-1">
                <a:latin typeface="Arial"/>
                <a:hlinkClick r:id="rId2"/>
              </a:rPr>
              <a:t>http://www.biosci.global/customer-stories-en/data-visualization-cheat-sheet/</a:t>
            </a:r>
            <a:r>
              <a:rPr lang="en-GB" sz="2400" b="0" strike="noStrike" spc="-1">
                <a:latin typeface="Arial"/>
              </a:rPr>
              <a:t> which may help you to decide on some visualisations to try out</a:t>
            </a:r>
          </a:p>
          <a:p>
            <a:pPr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latin typeface="Arial"/>
              </a:rPr>
              <a:t>What cleaning / tidying of your data is likely to be necessary? Will you need to encode any variables? Have a think on this.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</TotalTime>
  <Words>1183</Words>
  <Application>Microsoft Office PowerPoint</Application>
  <PresentationFormat>Custom</PresentationFormat>
  <Paragraphs>76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C7201 Data Analysis Basics</vt:lpstr>
      <vt:lpstr>In this session</vt:lpstr>
      <vt:lpstr>Taking an initial look at our dataset</vt:lpstr>
      <vt:lpstr>Taking an initial look at our dataset</vt:lpstr>
      <vt:lpstr>What can we see from this?</vt:lpstr>
      <vt:lpstr>Taking an initial look at our dataset</vt:lpstr>
      <vt:lpstr>Taking an initial look at our dataset</vt:lpstr>
      <vt:lpstr>Taking an initial look at our dataset</vt:lpstr>
      <vt:lpstr>Lets have a look at ocean_proximity</vt:lpstr>
      <vt:lpstr>Lets have a look at ocean_proximity</vt:lpstr>
      <vt:lpstr>Starting to plot stuff!</vt:lpstr>
      <vt:lpstr>Starting to plot stuff!</vt:lpstr>
      <vt:lpstr>Starting to plot stuff!</vt:lpstr>
      <vt:lpstr>Starting to plot stuff!</vt:lpstr>
      <vt:lpstr>Creating a Test Set</vt:lpstr>
      <vt:lpstr>Okay so lets do that</vt:lpstr>
      <vt:lpstr>So lets write a function</vt:lpstr>
      <vt:lpstr>And contin.. Nope.</vt:lpstr>
      <vt:lpstr>The simplest solution</vt:lpstr>
      <vt:lpstr>The simplest solution</vt:lpstr>
      <vt:lpstr>Tutorial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Blueprint Plans</dc:title>
  <dc:subject/>
  <dc:creator>William Sayers</dc:creator>
  <dc:description/>
  <cp:lastModifiedBy>SHAHID, Usama</cp:lastModifiedBy>
  <cp:revision>57</cp:revision>
  <dcterms:created xsi:type="dcterms:W3CDTF">2020-12-27T17:30:23Z</dcterms:created>
  <dcterms:modified xsi:type="dcterms:W3CDTF">2024-11-25T12:13:52Z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Custom</vt:lpwstr>
  </property>
  <property fmtid="{D5CDD505-2E9C-101B-9397-08002B2CF9AE}" pid="4" name="Slides">
    <vt:i4>21</vt:i4>
  </property>
</Properties>
</file>