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3.jpeg" ContentType="image/jpeg"/>
  <Override PartName="/ppt/media/image2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GB" sz="2000" spc="-1" strike="noStrike">
                <a:latin typeface="Arial"/>
              </a:rPr>
              <a:t>Click to edit the notes' format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GB" sz="1400" spc="-1" strike="noStrike">
                <a:latin typeface="Times New Roman"/>
              </a:rPr>
              <a:t>&lt;header&gt;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GB" sz="1400" spc="-1" strike="noStrike">
                <a:latin typeface="Times New Roman"/>
              </a:rPr>
              <a:t>&lt;date/time&gt;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GB" sz="1400" spc="-1" strike="noStrike">
                <a:latin typeface="Times New Roman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buNone/>
            </a:pPr>
            <a:fld id="{645495F7-E523-4C5D-A234-E5C5E930ECAC}" type="slidenum">
              <a:rPr b="0" lang="en-GB" sz="1400" spc="-1" strike="noStrike">
                <a:latin typeface="Times New Roman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  <a:buNone/>
            </a:pPr>
            <a:fld id="{31AFFC3F-2475-4ECB-866B-FEF2AAA45B39}" type="slidenum">
              <a:rPr b="0" lang="en-GB" sz="1400" spc="-1" strike="noStrike">
                <a:latin typeface="Arial"/>
                <a:ea typeface="DejaVu Sans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5720"/>
            <a:ext cx="907128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225720"/>
            <a:ext cx="907128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24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504000" y="516492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447360" y="516492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7227360" y="516492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fld id="{D5164656-43B0-4C6E-BAD5-9BF36D09EB7B}" type="slidenum">
              <a:rPr b="0" lang="en-GB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15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GB" sz="315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GB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300" spc="-1" strike="noStrike">
                <a:latin typeface="Arial"/>
              </a:rPr>
              <a:t>Click to edit Master title style</a:t>
            </a:r>
            <a:endParaRPr b="0" lang="en-US" sz="3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latin typeface="Arial"/>
              </a:rPr>
              <a:t>Click to edit Master text styles</a:t>
            </a:r>
            <a:endParaRPr b="0" lang="en-GB" sz="24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GB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7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46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7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fld id="{7EACAB21-2740-4033-828E-1A34A41D1D73}" type="slidenum">
              <a:rPr b="0" lang="en-GB" sz="14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787320"/>
            <a:ext cx="9071280" cy="134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4400" spc="-1" strike="noStrike">
                <a:solidFill>
                  <a:srgbClr val="ffffff"/>
                </a:solidFill>
                <a:latin typeface="Arial"/>
              </a:rPr>
              <a:t>CT7201 Python Notebooks and Scripting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1280" cy="275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spcBef>
                <a:spcPts val="1414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Arial"/>
              </a:rPr>
              <a:t>Week 5</a:t>
            </a:r>
            <a:endParaRPr b="0" lang="en-GB" sz="2400" spc="-1" strike="noStrike">
              <a:latin typeface="Arial"/>
            </a:endParaRPr>
          </a:p>
        </p:txBody>
      </p:sp>
      <p:pic>
        <p:nvPicPr>
          <p:cNvPr id="90" name="Picture 4" descr="A person in a suit and tie&#10;&#10;Description automatically generated with low confidence"/>
          <p:cNvPicPr/>
          <p:nvPr/>
        </p:nvPicPr>
        <p:blipFill>
          <a:blip r:embed="rId1"/>
          <a:stretch/>
        </p:blipFill>
        <p:spPr>
          <a:xfrm>
            <a:off x="1346040" y="2421720"/>
            <a:ext cx="2160360" cy="2707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3300" spc="-1" strike="noStrike">
                <a:latin typeface="Arial"/>
              </a:rPr>
              <a:t>Simple input in Python</a:t>
            </a:r>
            <a:endParaRPr b="0" lang="en-US" sz="3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If we want to get some input from the user whilst our code is running, we can use the “input” function – </a:t>
            </a:r>
            <a:endParaRPr b="0" lang="en-GB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On the command line this pauses our program, and requests some input from the user</a:t>
            </a:r>
            <a:endParaRPr b="0" lang="en-GB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Within Jupyter this pops up a input box – and pauses execution until we’ve typed in some input and pressed enter</a:t>
            </a:r>
            <a:endParaRPr b="0" lang="en-GB" sz="2400" spc="-1" strike="noStrike">
              <a:latin typeface="Arial"/>
            </a:endParaRPr>
          </a:p>
        </p:txBody>
      </p:sp>
      <p:pic>
        <p:nvPicPr>
          <p:cNvPr id="93" name="Picture 4" descr=""/>
          <p:cNvPicPr/>
          <p:nvPr/>
        </p:nvPicPr>
        <p:blipFill>
          <a:blip r:embed="rId1"/>
          <a:stretch/>
        </p:blipFill>
        <p:spPr>
          <a:xfrm>
            <a:off x="3365640" y="3964320"/>
            <a:ext cx="3530160" cy="130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3300" spc="-1" strike="noStrike">
                <a:latin typeface="Arial"/>
              </a:rPr>
              <a:t>While loops</a:t>
            </a:r>
            <a:endParaRPr b="0" lang="en-US" sz="3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637920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We’ve already seen “for” loops in Python, another kind of loop we can use is a “while” loop – this is a loop that continues to loop the whole time a condition is true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Be wary using this – it’s possible to lock python into an endless loop if you accidentally use a condition that will never be True, which will lock it up until you restart forcibly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endParaRPr b="0" lang="en-GB" sz="2400" spc="-1" strike="noStrike">
              <a:latin typeface="Arial"/>
            </a:endParaRPr>
          </a:p>
        </p:txBody>
      </p:sp>
      <p:pic>
        <p:nvPicPr>
          <p:cNvPr id="96" name="Picture 4" descr=""/>
          <p:cNvPicPr/>
          <p:nvPr/>
        </p:nvPicPr>
        <p:blipFill>
          <a:blip r:embed="rId1"/>
          <a:stretch/>
        </p:blipFill>
        <p:spPr>
          <a:xfrm>
            <a:off x="7213680" y="1576440"/>
            <a:ext cx="2485800" cy="386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3300" spc="-1" strike="noStrike">
                <a:latin typeface="Arial"/>
              </a:rPr>
              <a:t>Combining while and input</a:t>
            </a:r>
            <a:endParaRPr b="0" lang="en-US" sz="3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There are two reasons we might want to combine while loops and input</a:t>
            </a:r>
            <a:endParaRPr b="0" lang="en-GB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In order to include input validation – i.e. to check that the user has input something close to what we want</a:t>
            </a:r>
            <a:endParaRPr b="0" lang="en-GB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In order to collect multiple inputs</a:t>
            </a:r>
            <a:endParaRPr b="0" lang="en-GB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3300" spc="-1" strike="noStrike">
                <a:latin typeface="Arial"/>
              </a:rPr>
              <a:t>Input Validation</a:t>
            </a:r>
            <a:endParaRPr b="0" lang="en-US" sz="3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We can initially get an input from a user, then include a while statement that checks whether the input is valid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If the input isn’t valid, it will continually ask for new inputs, until a valid input is obtained</a:t>
            </a:r>
            <a:endParaRPr b="0" lang="en-GB" sz="2400" spc="-1" strike="noStrike">
              <a:latin typeface="Arial"/>
            </a:endParaRPr>
          </a:p>
        </p:txBody>
      </p:sp>
      <p:pic>
        <p:nvPicPr>
          <p:cNvPr id="101" name="Picture 4" descr=""/>
          <p:cNvPicPr/>
          <p:nvPr/>
        </p:nvPicPr>
        <p:blipFill>
          <a:blip r:embed="rId1"/>
          <a:stretch/>
        </p:blipFill>
        <p:spPr>
          <a:xfrm>
            <a:off x="961920" y="3245040"/>
            <a:ext cx="7954560" cy="189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3300" spc="-1" strike="noStrike">
                <a:latin typeface="Arial"/>
              </a:rPr>
              <a:t>Multiple Inputs</a:t>
            </a:r>
            <a:endParaRPr b="0" lang="en-US" sz="3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400" spc="-1" strike="noStrike">
              <a:latin typeface="Arial"/>
            </a:endParaRPr>
          </a:p>
        </p:txBody>
      </p:sp>
      <p:pic>
        <p:nvPicPr>
          <p:cNvPr id="104" name="Picture 4" descr=""/>
          <p:cNvPicPr/>
          <p:nvPr/>
        </p:nvPicPr>
        <p:blipFill>
          <a:blip r:embed="rId1"/>
          <a:stretch/>
        </p:blipFill>
        <p:spPr>
          <a:xfrm>
            <a:off x="700920" y="1326600"/>
            <a:ext cx="8677440" cy="3287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3300" spc="-1" strike="noStrike">
                <a:latin typeface="Arial"/>
              </a:rPr>
              <a:t>Object Oriented Programming</a:t>
            </a:r>
            <a:endParaRPr b="0" lang="en-US" sz="3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000"/>
          </a:bodyPr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So far, we’ve been doing what could be referred to as “procedure oriented” programming, or as is more commonly said “procedural” programming.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This means we’re organising our programming in terms of execution running from top to bottom, and functions that run within that.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This approach to programming can be used for almost anything – but when you start to work with larger and larger programs you’ll start to get something we refer to as “spaghetti code”.</a:t>
            </a:r>
            <a:endParaRPr b="0" lang="en-GB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3300" spc="-1" strike="noStrike">
                <a:latin typeface="Arial"/>
              </a:rPr>
              <a:t>So how do we prevent spaghettification?</a:t>
            </a:r>
            <a:endParaRPr b="0" lang="en-US" sz="3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8000"/>
          </a:bodyPr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We start to think in terms of “objects”!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Object oriented code means that we wrap up bits of our program into combinations of data and functionality.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We say “This data, is linked with these functions, and therefore we can link them together so that we can treat them as one </a:t>
            </a:r>
            <a:r>
              <a:rPr b="0" i="1" lang="en-GB" sz="2400" spc="-1" strike="noStrike">
                <a:latin typeface="Arial"/>
              </a:rPr>
              <a:t>object</a:t>
            </a:r>
            <a:r>
              <a:rPr b="0" lang="en-GB" sz="2400" spc="-1" strike="noStrike">
                <a:latin typeface="Arial"/>
              </a:rPr>
              <a:t>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And we’ve used this approach loads already – because </a:t>
            </a:r>
            <a:r>
              <a:rPr b="0" i="1" lang="en-GB" sz="2400" spc="-1" strike="noStrike">
                <a:latin typeface="Arial"/>
              </a:rPr>
              <a:t>everything</a:t>
            </a:r>
            <a:r>
              <a:rPr b="0" lang="en-GB" sz="2400" spc="-1" strike="noStrike">
                <a:latin typeface="Arial"/>
              </a:rPr>
              <a:t> in python is an object – even integers are actually a combination of some data (the number the integer stores) and some functions that can work with that data.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Strings are objects, that’s how we get all of our string functions, and lists are objects… everything is an object.</a:t>
            </a:r>
            <a:endParaRPr b="0" lang="en-GB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3300" spc="-1" strike="noStrike">
                <a:latin typeface="Arial"/>
              </a:rPr>
              <a:t>Okay…</a:t>
            </a:r>
            <a:endParaRPr b="0" lang="en-US" sz="3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We can create our own objects, which gives us “parcels” of data and functionality that we can pass around as needed.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The simplest possible class looks like this:</a:t>
            </a:r>
            <a:endParaRPr b="0" lang="en-GB" sz="2400" spc="-1" strike="noStrike">
              <a:latin typeface="Arial"/>
            </a:endParaRPr>
          </a:p>
        </p:txBody>
      </p:sp>
      <p:pic>
        <p:nvPicPr>
          <p:cNvPr id="111" name="Picture 4" descr=""/>
          <p:cNvPicPr/>
          <p:nvPr/>
        </p:nvPicPr>
        <p:blipFill>
          <a:blip r:embed="rId1"/>
          <a:stretch/>
        </p:blipFill>
        <p:spPr>
          <a:xfrm>
            <a:off x="1039680" y="2970720"/>
            <a:ext cx="7754040" cy="220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3300" spc="-1" strike="noStrike">
                <a:latin typeface="Arial"/>
              </a:rPr>
              <a:t>Classes</a:t>
            </a:r>
            <a:endParaRPr b="0" lang="en-US" sz="3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When we create a class, we are defining something that an object in python </a:t>
            </a:r>
            <a:r>
              <a:rPr b="1" lang="en-GB" sz="2400" spc="-1" strike="noStrike">
                <a:latin typeface="Arial"/>
              </a:rPr>
              <a:t>can</a:t>
            </a:r>
            <a:r>
              <a:rPr b="0" lang="en-GB" sz="2400" spc="-1" strike="noStrike">
                <a:latin typeface="Arial"/>
              </a:rPr>
              <a:t> be, rather than creating a copy of it. We have to later create a copy of it (an </a:t>
            </a:r>
            <a:r>
              <a:rPr b="0" i="1" lang="en-GB" sz="2400" spc="-1" strike="noStrike">
                <a:latin typeface="Arial"/>
              </a:rPr>
              <a:t>instance</a:t>
            </a:r>
            <a:r>
              <a:rPr b="0" lang="en-GB" sz="2400" spc="-1" strike="noStrike">
                <a:latin typeface="Arial"/>
              </a:rPr>
              <a:t>) and we can have multiple instances of each class, with their own distinct variables (or </a:t>
            </a:r>
            <a:r>
              <a:rPr b="0" i="1" lang="en-GB" sz="2400" spc="-1" strike="noStrike">
                <a:latin typeface="Arial"/>
              </a:rPr>
              <a:t>state</a:t>
            </a:r>
            <a:r>
              <a:rPr b="0" lang="en-GB" sz="2400" spc="-1" strike="noStrike">
                <a:latin typeface="Arial"/>
              </a:rPr>
              <a:t>).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But that class can’t do very much.. (anything).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If we want it to do stuff, we have to add some functions to it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The first thing we’re going to add is an __init__ function</a:t>
            </a:r>
            <a:endParaRPr b="0" lang="en-GB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3300" spc="-1" strike="noStrike">
                <a:latin typeface="Arial"/>
              </a:rPr>
              <a:t>A quick word about underscores</a:t>
            </a:r>
            <a:endParaRPr b="0" lang="en-US" sz="3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In most other languages, methods (functions within a class) and fields (variables within a class), will be able to be private, protected, or public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In these languages, this controls whether the methods and fields are available from outside the class itself or not – contrary to what you may expect, the normal is that they are not accessible from outside the class, and that you have a strict defined interface of public elements that allow interaction with the class.</a:t>
            </a:r>
            <a:endParaRPr b="0" lang="en-GB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3300" spc="-1" strike="noStrike">
                <a:latin typeface="Arial"/>
              </a:rPr>
              <a:t>Enter.. Python</a:t>
            </a:r>
            <a:endParaRPr b="0" lang="en-US" sz="3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In Python, we don’t have any controls like this – effectively everything is public – everything is available from outside the class. We do have a convention though, which is used throughout python.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This is that methods or fields which are surrounded by a single underscore, are </a:t>
            </a:r>
            <a:r>
              <a:rPr b="1" lang="en-GB" sz="2400" spc="-1" strike="noStrike">
                <a:latin typeface="Arial"/>
              </a:rPr>
              <a:t>not</a:t>
            </a:r>
            <a:r>
              <a:rPr b="0" lang="en-GB" sz="2400" spc="-1" strike="noStrike">
                <a:latin typeface="Arial"/>
              </a:rPr>
              <a:t> intended for use outside of the class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Methods and fields which are surrounded by double underscores are </a:t>
            </a:r>
            <a:r>
              <a:rPr b="1" lang="en-GB" sz="2400" spc="-1" strike="noStrike">
                <a:latin typeface="Arial"/>
              </a:rPr>
              <a:t>really not</a:t>
            </a:r>
            <a:r>
              <a:rPr b="0" lang="en-GB" sz="2400" spc="-1" strike="noStrike">
                <a:latin typeface="Arial"/>
              </a:rPr>
              <a:t> intended for use outside of the class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But anything is still fair game in the interests of being pythonic (simple, and sensible).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endParaRPr b="0" lang="en-GB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3300" spc="-1" strike="noStrike">
                <a:latin typeface="Arial"/>
              </a:rPr>
              <a:t>So, the __init__ function</a:t>
            </a:r>
            <a:endParaRPr b="0" lang="en-US" sz="3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Is not intended for access outside the class, and is automatically run whenever we create a new instance of the class.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It is intended for setup – so for example if your class was going to manage access to a database it may setup the connection, or if your class is going to manage access to a file, it will open the file up ready</a:t>
            </a:r>
            <a:endParaRPr b="0" lang="en-GB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3300" spc="-1" strike="noStrike">
                <a:latin typeface="Arial"/>
              </a:rPr>
              <a:t>The init method</a:t>
            </a:r>
            <a:endParaRPr b="0" lang="en-US" sz="33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1" name="Content Placeholder 4" descr=""/>
          <p:cNvPicPr/>
          <p:nvPr/>
        </p:nvPicPr>
        <p:blipFill>
          <a:blip r:embed="rId1"/>
          <a:stretch/>
        </p:blipFill>
        <p:spPr>
          <a:xfrm>
            <a:off x="588240" y="1736640"/>
            <a:ext cx="3991320" cy="3105360"/>
          </a:xfrm>
          <a:prstGeom prst="rect">
            <a:avLst/>
          </a:prstGeom>
          <a:ln w="0">
            <a:noFill/>
          </a:ln>
        </p:spPr>
      </p:pic>
      <p:pic>
        <p:nvPicPr>
          <p:cNvPr id="122" name="Picture 6" descr=""/>
          <p:cNvPicPr/>
          <p:nvPr/>
        </p:nvPicPr>
        <p:blipFill>
          <a:blip r:embed="rId2"/>
          <a:stretch/>
        </p:blipFill>
        <p:spPr>
          <a:xfrm>
            <a:off x="4660200" y="1736640"/>
            <a:ext cx="4915080" cy="310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3300" spc="-1" strike="noStrike">
                <a:latin typeface="Arial"/>
              </a:rPr>
              <a:t>What’s the self parameter?</a:t>
            </a:r>
            <a:endParaRPr b="0" lang="en-US" sz="3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It’s a parameter which every method inside of a class in python must have – it refers to the current instance of the class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We can create and set variables on our class instance, by creating them on the self object, as you can see in that example with .name and .age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We can also create variables in a different way as demonstrated in the next slide.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endParaRPr b="0" lang="en-GB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3300" spc="-1" strike="noStrike">
                <a:latin typeface="Arial"/>
              </a:rPr>
              <a:t>Class Variables</a:t>
            </a:r>
            <a:endParaRPr b="0" lang="en-US" sz="3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2220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Class variables can be declared like this – within the class body.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These variables belong to the class – rather than to any particular instance of the class, and are accessible from every instance with the same value.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They are accessed using the class name.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In other languages – these are roughly equivalent to “static” variables.</a:t>
            </a:r>
            <a:endParaRPr b="0" lang="en-GB" sz="2400" spc="-1" strike="noStrike">
              <a:latin typeface="Arial"/>
            </a:endParaRPr>
          </a:p>
        </p:txBody>
      </p:sp>
      <p:pic>
        <p:nvPicPr>
          <p:cNvPr id="127" name="Picture 4" descr=""/>
          <p:cNvPicPr/>
          <p:nvPr/>
        </p:nvPicPr>
        <p:blipFill>
          <a:blip r:embed="rId1"/>
          <a:stretch/>
        </p:blipFill>
        <p:spPr>
          <a:xfrm>
            <a:off x="5039640" y="1326600"/>
            <a:ext cx="4684320" cy="394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3300" spc="-1" strike="noStrike">
                <a:latin typeface="Arial"/>
              </a:rPr>
              <a:t>Tutorial</a:t>
            </a:r>
            <a:endParaRPr b="0" lang="en-US" sz="3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latin typeface="Arial"/>
              </a:rPr>
              <a:t>Try to re-implement your tutorial from last week (a solution to store information about a series of individuals), using classes to store that information, and using a list to contain those classes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r>
              <a:rPr b="0" i="1" lang="en-GB" sz="2400" spc="-1" strike="noStrike">
                <a:latin typeface="Arial"/>
              </a:rPr>
              <a:t>Bonus:</a:t>
            </a:r>
            <a:r>
              <a:rPr b="0" lang="en-GB" sz="2400" spc="-1" strike="noStrike">
                <a:latin typeface="Arial"/>
              </a:rPr>
              <a:t> See if you can expand this small program, to allow the user to add, or remove people, print out a list of people, and exit when the user decides too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endParaRPr b="0" lang="en-GB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</TotalTime>
  <Application>LibreOffice/7.2.5.2$Linux_X86_64 LibreOffice_project/20$Build-2</Application>
  <AppVersion>15.0000</AppVersion>
  <Words>1086</Words>
  <Paragraphs>60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2020-12-27T17:30:23Z</dcterms:created>
  <dc:creator>William Sayers</dc:creator>
  <dc:description/>
  <dc:language>en-GB</dc:language>
  <cp:lastModifiedBy/>
  <dcterms:modified xsi:type="dcterms:W3CDTF">2022-02-16T20:40:48Z</dcterms:modified>
  <cp:revision>32</cp:revision>
  <dc:subject/>
  <dc:title>Blueprint Plans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Custom</vt:lpwstr>
  </property>
  <property fmtid="{D5CDD505-2E9C-101B-9397-08002B2CF9AE}" pid="4" name="Slides">
    <vt:i4>17</vt:i4>
  </property>
</Properties>
</file>