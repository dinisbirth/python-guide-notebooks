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9.png" ContentType="image/png"/>
  <Override PartName="/ppt/media/image13.png" ContentType="image/png"/>
  <Override PartName="/ppt/media/image8.png" ContentType="image/png"/>
  <Override PartName="/ppt/media/image16.png" ContentType="image/png"/>
  <Override PartName="/ppt/media/image14.png" ContentType="image/png"/>
  <Override PartName="/ppt/media/image1.png" ContentType="image/png"/>
  <Override PartName="/ppt/media/image3.jpeg" ContentType="image/jpeg"/>
  <Override PartName="/ppt/media/image15.png" ContentType="image/png"/>
  <Override PartName="/ppt/media/image2.png" ContentType="image/png"/>
  <Override PartName="/ppt/media/image4.jpeg" ContentType="image/jpe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23.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GB" sz="2000" spc="-1" strike="noStrike">
                <a:latin typeface="Arial"/>
              </a:rPr>
              <a:t>Click to edit the notes' format</a:t>
            </a:r>
            <a:endParaRPr b="0" lang="en-GB"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GB" sz="1400" spc="-1" strike="noStrike">
                <a:latin typeface="Times New Roman"/>
              </a:rPr>
              <a:t>&lt;header&gt;</a:t>
            </a:r>
            <a:endParaRPr b="0" lang="en-GB" sz="1400" spc="-1" strike="noStrike">
              <a:latin typeface="Times New Roman"/>
            </a:endParaRPr>
          </a:p>
        </p:txBody>
      </p:sp>
      <p:sp>
        <p:nvSpPr>
          <p:cNvPr id="85"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GB" sz="1400" spc="-1" strike="noStrike">
                <a:latin typeface="Times New Roman"/>
              </a:rPr>
              <a:t>&lt;date/time&gt;</a:t>
            </a:r>
            <a:endParaRPr b="0" lang="en-GB" sz="1400" spc="-1" strike="noStrike">
              <a:latin typeface="Times New Roman"/>
            </a:endParaRPr>
          </a:p>
        </p:txBody>
      </p:sp>
      <p:sp>
        <p:nvSpPr>
          <p:cNvPr id="86"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GB" sz="1400" spc="-1" strike="noStrike">
                <a:latin typeface="Times New Roman"/>
              </a:rPr>
              <a:t>&lt;footer&gt;</a:t>
            </a:r>
            <a:endParaRPr b="0" lang="en-GB" sz="1400" spc="-1" strike="noStrike">
              <a:latin typeface="Times New Roman"/>
            </a:endParaRPr>
          </a:p>
        </p:txBody>
      </p:sp>
      <p:sp>
        <p:nvSpPr>
          <p:cNvPr id="87"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CD2870A6-27D7-4F10-9BE5-3CA4982F0BCB}" type="slidenum">
              <a:rPr b="0" lang="en-GB" sz="1400" spc="-1" strike="noStrike">
                <a:latin typeface="Times New Roman"/>
              </a:rPr>
              <a:t>&lt;number&gt;</a:t>
            </a:fld>
            <a:endParaRPr b="0" lang="en-GB"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Num"/>
          </p:nvPr>
        </p:nvSpPr>
        <p:spPr>
          <a:xfrm>
            <a:off x="4278960" y="10157400"/>
            <a:ext cx="3280320" cy="533880"/>
          </a:xfrm>
          <a:prstGeom prst="rect">
            <a:avLst/>
          </a:prstGeom>
          <a:noFill/>
          <a:ln w="0">
            <a:noFill/>
          </a:ln>
        </p:spPr>
        <p:txBody>
          <a:bodyPr lIns="0" rIns="0" tIns="0" bIns="0" anchor="b">
            <a:noAutofit/>
          </a:bodyPr>
          <a:p>
            <a:pPr algn="r">
              <a:lnSpc>
                <a:spcPct val="100000"/>
              </a:lnSpc>
              <a:buNone/>
            </a:pPr>
            <a:fld id="{612EB658-F2AC-45C7-984B-870B7452F685}" type="slidenum">
              <a:rPr b="0" lang="en-GB" sz="1400" spc="-1" strike="noStrike">
                <a:latin typeface="Arial"/>
                <a:ea typeface="DejaVu Sans"/>
              </a:rPr>
              <a:t>&lt;number&gt;</a:t>
            </a:fld>
            <a:endParaRPr b="0" lang="en-GB" sz="1400" spc="-1" strike="noStrike">
              <a:latin typeface="Times New Roman"/>
            </a:endParaRPr>
          </a:p>
        </p:txBody>
      </p:sp>
      <p:sp>
        <p:nvSpPr>
          <p:cNvPr id="149" name="PlaceHolder 2"/>
          <p:cNvSpPr>
            <a:spLocks noGrp="1"/>
          </p:cNvSpPr>
          <p:nvPr>
            <p:ph type="sldImg"/>
          </p:nvPr>
        </p:nvSpPr>
        <p:spPr>
          <a:xfrm>
            <a:off x="217440" y="812880"/>
            <a:ext cx="7124400" cy="4008240"/>
          </a:xfrm>
          <a:prstGeom prst="rect">
            <a:avLst/>
          </a:prstGeom>
          <a:ln w="0">
            <a:noFill/>
          </a:ln>
        </p:spPr>
      </p:sp>
      <p:sp>
        <p:nvSpPr>
          <p:cNvPr id="150" name="PlaceHolder 3"/>
          <p:cNvSpPr>
            <a:spLocks noGrp="1"/>
          </p:cNvSpPr>
          <p:nvPr>
            <p:ph type="body"/>
          </p:nvPr>
        </p:nvSpPr>
        <p:spPr>
          <a:xfrm>
            <a:off x="756000" y="5078520"/>
            <a:ext cx="6047280" cy="4811040"/>
          </a:xfrm>
          <a:prstGeom prst="rect">
            <a:avLst/>
          </a:prstGeom>
          <a:noFill/>
          <a:ln w="0">
            <a:noFill/>
          </a:ln>
        </p:spPr>
        <p:txBody>
          <a:bodyPr lIns="0" rIns="0" tIns="0" bIns="0" anchor="t">
            <a:noAutofit/>
          </a:bodyPr>
          <a:p>
            <a:endParaRPr b="0" lang="en-GB"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
        <p:nvSpPr>
          <p:cNvPr id="11"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5720"/>
            <a:ext cx="9071280" cy="438840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16"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
        <p:nvSpPr>
          <p:cNvPr id="17"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
        <p:nvSpPr>
          <p:cNvPr id="20"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21"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24"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25"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28"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1"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2"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3"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504000" y="1326600"/>
            <a:ext cx="9071280" cy="328788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504000" y="1326600"/>
            <a:ext cx="9071280" cy="328788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
        <p:nvSpPr>
          <p:cNvPr id="52"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5720"/>
            <a:ext cx="9071280" cy="4388400"/>
          </a:xfrm>
          <a:prstGeom prst="rect">
            <a:avLst/>
          </a:prstGeom>
          <a:noFill/>
          <a:ln w="0">
            <a:noFill/>
          </a:ln>
        </p:spPr>
        <p:txBody>
          <a:bodyPr lIns="0" rIns="0" tIns="0" bIns="0" anchor="ctr">
            <a:noAutofit/>
          </a:bodyPr>
          <a:p>
            <a:pPr algn="ctr">
              <a:buNone/>
            </a:pPr>
            <a:endParaRPr b="0" lang="en-GB"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57" name="PlaceHolder 3"/>
          <p:cNvSpPr>
            <a:spLocks noGrp="1"/>
          </p:cNvSpPr>
          <p:nvPr>
            <p:ph/>
          </p:nvPr>
        </p:nvSpPr>
        <p:spPr>
          <a:xfrm>
            <a:off x="515232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
        <p:nvSpPr>
          <p:cNvPr id="58"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504000" y="1326600"/>
            <a:ext cx="4426560" cy="3287880"/>
          </a:xfrm>
          <a:prstGeom prst="rect">
            <a:avLst/>
          </a:prstGeom>
          <a:noFill/>
          <a:ln w="0">
            <a:noFill/>
          </a:ln>
        </p:spPr>
        <p:txBody>
          <a:bodyPr lIns="0" rIns="0" tIns="0" bIns="0" anchor="t">
            <a:normAutofit/>
          </a:bodyPr>
          <a:p>
            <a:endParaRPr b="0" lang="en-GB" sz="2400" spc="-1" strike="noStrike">
              <a:latin typeface="Arial"/>
            </a:endParaRPr>
          </a:p>
        </p:txBody>
      </p:sp>
      <p:sp>
        <p:nvSpPr>
          <p:cNvPr id="61"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62" name="PlaceHolder 4"/>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65"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66" name="PlaceHolder 4"/>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504000" y="1326600"/>
            <a:ext cx="90712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69" name="PlaceHolder 3"/>
          <p:cNvSpPr>
            <a:spLocks noGrp="1"/>
          </p:cNvSpPr>
          <p:nvPr>
            <p:ph/>
          </p:nvPr>
        </p:nvSpPr>
        <p:spPr>
          <a:xfrm>
            <a:off x="504000" y="3044160"/>
            <a:ext cx="907128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50400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72" name="PlaceHolder 3"/>
          <p:cNvSpPr>
            <a:spLocks noGrp="1"/>
          </p:cNvSpPr>
          <p:nvPr>
            <p:ph/>
          </p:nvPr>
        </p:nvSpPr>
        <p:spPr>
          <a:xfrm>
            <a:off x="5152320" y="132660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73" name="PlaceHolder 4"/>
          <p:cNvSpPr>
            <a:spLocks noGrp="1"/>
          </p:cNvSpPr>
          <p:nvPr>
            <p:ph/>
          </p:nvPr>
        </p:nvSpPr>
        <p:spPr>
          <a:xfrm>
            <a:off x="50400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
        <p:nvSpPr>
          <p:cNvPr id="74" name="PlaceHolder 5"/>
          <p:cNvSpPr>
            <a:spLocks noGrp="1"/>
          </p:cNvSpPr>
          <p:nvPr>
            <p:ph/>
          </p:nvPr>
        </p:nvSpPr>
        <p:spPr>
          <a:xfrm>
            <a:off x="5152320" y="3044160"/>
            <a:ext cx="442656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77"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78"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79"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80"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GB" sz="2400" spc="-1" strike="noStrike">
              <a:latin typeface="Arial"/>
            </a:endParaRPr>
          </a:p>
        </p:txBody>
      </p:sp>
      <p:sp>
        <p:nvSpPr>
          <p:cNvPr id="81"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GB" sz="24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dt"/>
          </p:nvPr>
        </p:nvSpPr>
        <p:spPr>
          <a:xfrm>
            <a:off x="504000" y="5164920"/>
            <a:ext cx="2347920" cy="390240"/>
          </a:xfrm>
          <a:prstGeom prst="rect">
            <a:avLst/>
          </a:prstGeom>
          <a:noFill/>
          <a:ln w="0">
            <a:noFill/>
          </a:ln>
        </p:spPr>
        <p:txBody>
          <a:bodyPr lIns="0" rIns="0" tIns="0" bIns="0" anchor="t">
            <a:noAutofit/>
          </a:bodyPr>
          <a:p>
            <a:endParaRPr b="0" lang="en-GB" sz="2400" spc="-1" strike="noStrike">
              <a:latin typeface="Times New Roman"/>
            </a:endParaRPr>
          </a:p>
        </p:txBody>
      </p:sp>
      <p:sp>
        <p:nvSpPr>
          <p:cNvPr id="1" name="PlaceHolder 2"/>
          <p:cNvSpPr>
            <a:spLocks noGrp="1"/>
          </p:cNvSpPr>
          <p:nvPr>
            <p:ph type="ftr"/>
          </p:nvPr>
        </p:nvSpPr>
        <p:spPr>
          <a:xfrm>
            <a:off x="3447360" y="5164920"/>
            <a:ext cx="3194640" cy="390240"/>
          </a:xfrm>
          <a:prstGeom prst="rect">
            <a:avLst/>
          </a:prstGeom>
          <a:noFill/>
          <a:ln w="0">
            <a:noFill/>
          </a:ln>
        </p:spPr>
        <p:txBody>
          <a:bodyPr lIns="0" rIns="0" tIns="0" bIns="0" anchor="t">
            <a:noAutofit/>
          </a:bodyPr>
          <a:p>
            <a:endParaRPr b="0" lang="en-GB" sz="2400" spc="-1" strike="noStrike">
              <a:latin typeface="Times New Roman"/>
            </a:endParaRPr>
          </a:p>
        </p:txBody>
      </p:sp>
      <p:sp>
        <p:nvSpPr>
          <p:cNvPr id="2" name="PlaceHolder 3"/>
          <p:cNvSpPr>
            <a:spLocks noGrp="1"/>
          </p:cNvSpPr>
          <p:nvPr>
            <p:ph type="sldNum"/>
          </p:nvPr>
        </p:nvSpPr>
        <p:spPr>
          <a:xfrm>
            <a:off x="7227360" y="5164920"/>
            <a:ext cx="2347920" cy="390240"/>
          </a:xfrm>
          <a:prstGeom prst="rect">
            <a:avLst/>
          </a:prstGeom>
          <a:noFill/>
          <a:ln w="0">
            <a:noFill/>
          </a:ln>
        </p:spPr>
        <p:txBody>
          <a:bodyPr lIns="0" rIns="0" tIns="0" bIns="0" anchor="t">
            <a:noAutofit/>
          </a:bodyPr>
          <a:p>
            <a:pPr algn="r">
              <a:lnSpc>
                <a:spcPct val="100000"/>
              </a:lnSpc>
              <a:buNone/>
            </a:pPr>
            <a:fld id="{E9A3ACCF-C609-4E68-971D-9CE0E20484B1}" type="slidenum">
              <a:rPr b="0" lang="en-GB" sz="1400" spc="-1" strike="noStrike">
                <a:solidFill>
                  <a:srgbClr val="ffffff"/>
                </a:solidFill>
                <a:latin typeface="Arial"/>
                <a:ea typeface="DejaVu Sans"/>
              </a:rPr>
              <a:t>&lt;number&gt;</a:t>
            </a:fld>
            <a:endParaRPr b="0" lang="en-GB" sz="1400" spc="-1" strike="noStrike">
              <a:latin typeface="Times New Roman"/>
            </a:endParaRPr>
          </a:p>
        </p:txBody>
      </p:sp>
      <p:sp>
        <p:nvSpPr>
          <p:cNvPr id="3"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150" spc="-1" strike="noStrike">
                <a:solidFill>
                  <a:srgbClr val="ffffff"/>
                </a:solidFill>
                <a:latin typeface="Arial"/>
              </a:rPr>
              <a:t>Click to edit the outline text format</a:t>
            </a:r>
            <a:endParaRPr b="0" lang="en-GB" sz="3150" spc="-1" strike="noStrike">
              <a:solidFill>
                <a:srgbClr val="ffffff"/>
              </a:solidFill>
              <a:latin typeface="Arial"/>
            </a:endParaRPr>
          </a:p>
          <a:p>
            <a:pPr lvl="1" marL="864000" indent="-324000">
              <a:spcBef>
                <a:spcPts val="1134"/>
              </a:spcBef>
              <a:buClr>
                <a:srgbClr val="000000"/>
              </a:buClr>
              <a:buSzPct val="75000"/>
              <a:buFont typeface="Symbol" charset="2"/>
              <a:buChar char=""/>
            </a:pPr>
            <a:r>
              <a:rPr b="0" lang="en-GB" sz="2000" spc="-1" strike="noStrike">
                <a:solidFill>
                  <a:srgbClr val="000000"/>
                </a:solidFill>
                <a:latin typeface="Calibri"/>
              </a:rPr>
              <a:t>Second Outline Level</a:t>
            </a:r>
            <a:endParaRPr b="0" lang="en-GB" sz="20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Calibri"/>
              </a:rPr>
              <a:t>Third Outline Level</a:t>
            </a:r>
            <a:endParaRPr b="0" lang="en-GB"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Calibri"/>
              </a:rPr>
              <a:t>Fourth Outline Level</a:t>
            </a:r>
            <a:endParaRPr b="0" lang="en-GB"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Calibri"/>
              </a:rPr>
              <a:t>Fifth Outline Level</a:t>
            </a:r>
            <a:endParaRPr b="0" lang="en-GB"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Calibri"/>
              </a:rPr>
              <a:t>Sixth Outline Level</a:t>
            </a:r>
            <a:endParaRPr b="0" lang="en-GB"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Calibri"/>
              </a:rPr>
              <a:t>Seventh Outline Level</a:t>
            </a:r>
            <a:endParaRPr b="0" lang="en-GB"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US" sz="3300" spc="-1" strike="noStrike">
                <a:latin typeface="Arial"/>
              </a:rPr>
              <a:t>Click to edit Master title style</a:t>
            </a:r>
            <a:endParaRPr b="0" lang="en-US" sz="3300" spc="-1" strike="noStrike">
              <a:solidFill>
                <a:srgbClr val="000000"/>
              </a:solidFill>
              <a:latin typeface="Calibri"/>
            </a:endParaRPr>
          </a:p>
        </p:txBody>
      </p:sp>
      <p:sp>
        <p:nvSpPr>
          <p:cNvPr id="42" name="PlaceHolder 2"/>
          <p:cNvSpPr>
            <a:spLocks noGrp="1"/>
          </p:cNvSpPr>
          <p:nvPr>
            <p:ph type="body"/>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US" sz="2400" spc="-1" strike="noStrike">
                <a:latin typeface="Arial"/>
              </a:rPr>
              <a:t>Click to edit Master text styles</a:t>
            </a:r>
            <a:endParaRPr b="0" lang="en-GB" sz="2400" spc="-1" strike="noStrike">
              <a:latin typeface="Arial"/>
            </a:endParaRPr>
          </a:p>
          <a:p>
            <a:pPr lvl="1" marL="685800" indent="-228600">
              <a:lnSpc>
                <a:spcPct val="90000"/>
              </a:lnSpc>
              <a:spcBef>
                <a:spcPts val="499"/>
              </a:spcBef>
              <a:buClr>
                <a:srgbClr val="000000"/>
              </a:buClr>
              <a:buFont typeface="Arial"/>
              <a:buChar char="•"/>
              <a:tabLst>
                <a:tab algn="l" pos="0"/>
              </a:tabLst>
            </a:pPr>
            <a:r>
              <a:rPr b="0" lang="en-US" sz="2400" spc="-1" strike="noStrike">
                <a:solidFill>
                  <a:srgbClr val="000000"/>
                </a:solidFill>
                <a:latin typeface="Calibri"/>
              </a:rPr>
              <a:t>Second level</a:t>
            </a:r>
            <a:endParaRPr b="0" lang="en-GB" sz="2400" spc="-1" strike="noStrike">
              <a:solidFill>
                <a:srgbClr val="000000"/>
              </a:solidFill>
              <a:latin typeface="Calibri"/>
            </a:endParaRPr>
          </a:p>
          <a:p>
            <a:pPr lvl="2" marL="1143000" indent="-228600">
              <a:lnSpc>
                <a:spcPct val="90000"/>
              </a:lnSpc>
              <a:spcBef>
                <a:spcPts val="499"/>
              </a:spcBef>
              <a:buClr>
                <a:srgbClr val="000000"/>
              </a:buClr>
              <a:buFont typeface="Arial"/>
              <a:buChar char="•"/>
              <a:tabLst>
                <a:tab algn="l" pos="0"/>
              </a:tabLst>
            </a:pPr>
            <a:r>
              <a:rPr b="0" lang="en-US" sz="2000" spc="-1" strike="noStrike">
                <a:solidFill>
                  <a:srgbClr val="000000"/>
                </a:solidFill>
                <a:latin typeface="Calibri"/>
              </a:rPr>
              <a:t>Third level</a:t>
            </a:r>
            <a:endParaRPr b="0" lang="en-GB" sz="2000" spc="-1" strike="noStrike">
              <a:solidFill>
                <a:srgbClr val="000000"/>
              </a:solidFill>
              <a:latin typeface="Calibri"/>
            </a:endParaRPr>
          </a:p>
          <a:p>
            <a:pPr lvl="3" marL="1600200" indent="-228600">
              <a:lnSpc>
                <a:spcPct val="90000"/>
              </a:lnSpc>
              <a:spcBef>
                <a:spcPts val="499"/>
              </a:spcBef>
              <a:buClr>
                <a:srgbClr val="000000"/>
              </a:buClr>
              <a:buFont typeface="Arial"/>
              <a:buChar char="•"/>
              <a:tabLst>
                <a:tab algn="l" pos="0"/>
              </a:tabLst>
            </a:pPr>
            <a:r>
              <a:rPr b="0" lang="en-US" sz="1800" spc="-1" strike="noStrike">
                <a:solidFill>
                  <a:srgbClr val="000000"/>
                </a:solidFill>
                <a:latin typeface="Calibri"/>
              </a:rPr>
              <a:t>Fourth level</a:t>
            </a:r>
            <a:endParaRPr b="0" lang="en-GB" sz="1800" spc="-1" strike="noStrike">
              <a:solidFill>
                <a:srgbClr val="000000"/>
              </a:solidFill>
              <a:latin typeface="Calibri"/>
            </a:endParaRPr>
          </a:p>
          <a:p>
            <a:pPr lvl="4" marL="2057400" indent="-228600">
              <a:lnSpc>
                <a:spcPct val="90000"/>
              </a:lnSpc>
              <a:spcBef>
                <a:spcPts val="499"/>
              </a:spcBef>
              <a:buClr>
                <a:srgbClr val="000000"/>
              </a:buClr>
              <a:buFont typeface="Arial"/>
              <a:buChar char="•"/>
              <a:tabLst>
                <a:tab algn="l" pos="0"/>
              </a:tabLst>
            </a:pPr>
            <a:r>
              <a:rPr b="0" lang="en-US" sz="1800" spc="-1" strike="noStrike">
                <a:solidFill>
                  <a:srgbClr val="000000"/>
                </a:solidFill>
                <a:latin typeface="Calibri"/>
              </a:rPr>
              <a:t>Fifth level</a:t>
            </a:r>
            <a:endParaRPr b="0" lang="en-GB" sz="1800" spc="-1" strike="noStrike">
              <a:solidFill>
                <a:srgbClr val="000000"/>
              </a:solidFill>
              <a:latin typeface="Calibri"/>
            </a:endParaRPr>
          </a:p>
        </p:txBody>
      </p:sp>
      <p:sp>
        <p:nvSpPr>
          <p:cNvPr id="43" name="PlaceHolder 3"/>
          <p:cNvSpPr>
            <a:spLocks noGrp="1"/>
          </p:cNvSpPr>
          <p:nvPr>
            <p:ph type="dt"/>
          </p:nvPr>
        </p:nvSpPr>
        <p:spPr>
          <a:xfrm>
            <a:off x="504000" y="5165280"/>
            <a:ext cx="2347920" cy="390600"/>
          </a:xfrm>
          <a:prstGeom prst="rect">
            <a:avLst/>
          </a:prstGeom>
          <a:noFill/>
          <a:ln w="0">
            <a:noFill/>
          </a:ln>
        </p:spPr>
        <p:txBody>
          <a:bodyPr lIns="0" rIns="0" tIns="0" bIns="0" anchor="t">
            <a:noAutofit/>
          </a:bodyPr>
          <a:p>
            <a:endParaRPr b="0" lang="en-GB" sz="2400" spc="-1" strike="noStrike">
              <a:latin typeface="Times New Roman"/>
            </a:endParaRPr>
          </a:p>
        </p:txBody>
      </p:sp>
      <p:sp>
        <p:nvSpPr>
          <p:cNvPr id="44" name="PlaceHolder 4"/>
          <p:cNvSpPr>
            <a:spLocks noGrp="1"/>
          </p:cNvSpPr>
          <p:nvPr>
            <p:ph type="ftr"/>
          </p:nvPr>
        </p:nvSpPr>
        <p:spPr>
          <a:xfrm>
            <a:off x="3447360" y="5165280"/>
            <a:ext cx="3194640" cy="390600"/>
          </a:xfrm>
          <a:prstGeom prst="rect">
            <a:avLst/>
          </a:prstGeom>
          <a:noFill/>
          <a:ln w="0">
            <a:noFill/>
          </a:ln>
        </p:spPr>
        <p:txBody>
          <a:bodyPr lIns="0" rIns="0" tIns="0" bIns="0" anchor="t">
            <a:noAutofit/>
          </a:bodyPr>
          <a:p>
            <a:endParaRPr b="0" lang="en-GB" sz="2400" spc="-1" strike="noStrike">
              <a:latin typeface="Times New Roman"/>
            </a:endParaRPr>
          </a:p>
        </p:txBody>
      </p:sp>
      <p:sp>
        <p:nvSpPr>
          <p:cNvPr id="45" name="PlaceHolder 5"/>
          <p:cNvSpPr>
            <a:spLocks noGrp="1"/>
          </p:cNvSpPr>
          <p:nvPr>
            <p:ph type="sldNum"/>
          </p:nvPr>
        </p:nvSpPr>
        <p:spPr>
          <a:xfrm>
            <a:off x="7227360" y="5165280"/>
            <a:ext cx="2347920" cy="390600"/>
          </a:xfrm>
          <a:prstGeom prst="rect">
            <a:avLst/>
          </a:prstGeom>
          <a:noFill/>
          <a:ln w="0">
            <a:noFill/>
          </a:ln>
        </p:spPr>
        <p:txBody>
          <a:bodyPr lIns="0" rIns="0" tIns="0" bIns="0" anchor="t">
            <a:noAutofit/>
          </a:bodyPr>
          <a:p>
            <a:pPr algn="r">
              <a:lnSpc>
                <a:spcPct val="100000"/>
              </a:lnSpc>
              <a:buNone/>
            </a:pPr>
            <a:fld id="{BD5867A0-AD69-406F-9E32-D4867A09D272}" type="slidenum">
              <a:rPr b="0" lang="en-GB" sz="1400" spc="-1" strike="noStrike">
                <a:solidFill>
                  <a:srgbClr val="000000"/>
                </a:solidFill>
                <a:latin typeface="Arial"/>
                <a:ea typeface="DejaVu Sans"/>
              </a:rPr>
              <a:t>&lt;number&gt;</a:t>
            </a:fld>
            <a:endParaRPr b="0" lang="en-GB"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hyperlink" Target="https://docs.python.org/3/py-modindex.html" TargetMode="External"/><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hyperlink" Target="https://docs.conda.io/projects/conda/en/latest/user-guide/index.html" TargetMode="External"/><Relationship Id="rId2" Type="http://schemas.openxmlformats.org/officeDocument/2006/relationships/hyperlink" Target="https://pip.pypa.io/en/stable/" TargetMode="External"/><Relationship Id="rId3" Type="http://schemas.openxmlformats.org/officeDocument/2006/relationships/hyperlink" Target="https://git-scm.com/docs" TargetMode="External"/><Relationship Id="rId4"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787320"/>
            <a:ext cx="9071280" cy="1341000"/>
          </a:xfrm>
          <a:prstGeom prst="rect">
            <a:avLst/>
          </a:prstGeom>
          <a:noFill/>
          <a:ln w="0">
            <a:noFill/>
          </a:ln>
        </p:spPr>
        <p:txBody>
          <a:bodyPr lIns="0" rIns="0" tIns="0" bIns="0" anchor="ctr">
            <a:noAutofit/>
          </a:bodyPr>
          <a:p>
            <a:pPr algn="ctr">
              <a:lnSpc>
                <a:spcPct val="100000"/>
              </a:lnSpc>
              <a:buNone/>
            </a:pPr>
            <a:r>
              <a:rPr b="0" lang="en-GB" sz="4400" spc="-1" strike="noStrike">
                <a:solidFill>
                  <a:srgbClr val="ffffff"/>
                </a:solidFill>
                <a:latin typeface="Arial"/>
              </a:rPr>
              <a:t>CT7201 Python Notebooks and Scripting</a:t>
            </a:r>
            <a:endParaRPr b="0" lang="en-US" sz="4400" spc="-1" strike="noStrike">
              <a:solidFill>
                <a:srgbClr val="000000"/>
              </a:solidFill>
              <a:latin typeface="Calibri"/>
            </a:endParaRPr>
          </a:p>
        </p:txBody>
      </p:sp>
      <p:sp>
        <p:nvSpPr>
          <p:cNvPr id="89" name="PlaceHolder 2"/>
          <p:cNvSpPr>
            <a:spLocks noGrp="1"/>
          </p:cNvSpPr>
          <p:nvPr>
            <p:ph type="subTitle"/>
          </p:nvPr>
        </p:nvSpPr>
        <p:spPr>
          <a:xfrm>
            <a:off x="504000" y="2376000"/>
            <a:ext cx="9071280" cy="345240"/>
          </a:xfrm>
          <a:prstGeom prst="rect">
            <a:avLst/>
          </a:prstGeom>
          <a:noFill/>
          <a:ln w="0">
            <a:noFill/>
          </a:ln>
        </p:spPr>
        <p:txBody>
          <a:bodyPr lIns="0" rIns="0" tIns="0" bIns="0" anchor="ctr">
            <a:normAutofit fontScale="94000"/>
          </a:bodyPr>
          <a:p>
            <a:pPr algn="ctr">
              <a:lnSpc>
                <a:spcPct val="100000"/>
              </a:lnSpc>
              <a:spcBef>
                <a:spcPts val="1414"/>
              </a:spcBef>
              <a:buNone/>
              <a:tabLst>
                <a:tab algn="l" pos="0"/>
              </a:tabLst>
            </a:pPr>
            <a:r>
              <a:rPr b="0" lang="en-GB" sz="2400" spc="-1" strike="noStrike">
                <a:solidFill>
                  <a:srgbClr val="ffffff"/>
                </a:solidFill>
                <a:latin typeface="Arial"/>
              </a:rPr>
              <a:t>Week 6</a:t>
            </a:r>
            <a:endParaRPr b="0" lang="en-GB" sz="2400" spc="-1" strike="noStrike">
              <a:latin typeface="Arial"/>
            </a:endParaRPr>
          </a:p>
        </p:txBody>
      </p:sp>
      <p:pic>
        <p:nvPicPr>
          <p:cNvPr id="90" name="Picture 2" descr="See the source image"/>
          <p:cNvPicPr/>
          <p:nvPr/>
        </p:nvPicPr>
        <p:blipFill>
          <a:blip r:embed="rId1"/>
          <a:stretch/>
        </p:blipFill>
        <p:spPr>
          <a:xfrm>
            <a:off x="4110840" y="3001680"/>
            <a:ext cx="1858680" cy="18586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Batteries included!</a:t>
            </a:r>
            <a:endParaRPr b="0" lang="en-US" sz="3300" spc="-1" strike="noStrike">
              <a:solidFill>
                <a:srgbClr val="000000"/>
              </a:solidFill>
              <a:latin typeface="Calibri"/>
            </a:endParaRPr>
          </a:p>
        </p:txBody>
      </p:sp>
      <p:sp>
        <p:nvSpPr>
          <p:cNvPr id="92"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Python has what is called a “Batteries included” philosophy</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This means that it’s standard library is very comprehensive – the idea is that python can be a useful programming language even without the addition of further librarys</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Libraries?</a:t>
            </a:r>
            <a:endParaRPr b="0" lang="en-US" sz="3300" spc="-1" strike="noStrike">
              <a:solidFill>
                <a:srgbClr val="000000"/>
              </a:solidFill>
              <a:latin typeface="Calibri"/>
            </a:endParaRPr>
          </a:p>
        </p:txBody>
      </p:sp>
      <p:sp>
        <p:nvSpPr>
          <p:cNvPr id="94" name="PlaceHolder 2"/>
          <p:cNvSpPr>
            <a:spLocks noGrp="1"/>
          </p:cNvSpPr>
          <p:nvPr>
            <p:ph/>
          </p:nvPr>
        </p:nvSpPr>
        <p:spPr>
          <a:xfrm>
            <a:off x="504000" y="1326600"/>
            <a:ext cx="5472000" cy="3287880"/>
          </a:xfrm>
          <a:prstGeom prst="rect">
            <a:avLst/>
          </a:prstGeom>
          <a:noFill/>
          <a:ln w="0">
            <a:noFill/>
          </a:ln>
        </p:spPr>
        <p:txBody>
          <a:bodyPr lIns="0" rIns="0" tIns="0" bIns="0" anchor="t">
            <a:normAutofit fontScale="86000"/>
          </a:bodyPr>
          <a:p>
            <a:pPr>
              <a:lnSpc>
                <a:spcPct val="100000"/>
              </a:lnSpc>
              <a:spcBef>
                <a:spcPts val="1060"/>
              </a:spcBef>
              <a:buNone/>
              <a:tabLst>
                <a:tab algn="l" pos="0"/>
              </a:tabLst>
            </a:pPr>
            <a:r>
              <a:rPr b="0" lang="en-GB" sz="2400" spc="-1" strike="noStrike">
                <a:latin typeface="Arial"/>
              </a:rPr>
              <a:t>Yes, but not like your standard library</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In coding terms a library is a collection of code, written by someone else, that does something useful, that can be called from your code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A languages “standard” library, is the library that is included with the language itself, i.e. the selection of functions that are part of the language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Other libraries come from third parties</a:t>
            </a:r>
            <a:endParaRPr b="0" lang="en-GB" sz="2400" spc="-1" strike="noStrike">
              <a:latin typeface="Arial"/>
            </a:endParaRPr>
          </a:p>
        </p:txBody>
      </p:sp>
      <p:pic>
        <p:nvPicPr>
          <p:cNvPr id="95" name="Picture 6" descr="Amazing Library wallpaper"/>
          <p:cNvPicPr/>
          <p:nvPr/>
        </p:nvPicPr>
        <p:blipFill>
          <a:blip r:embed="rId1"/>
          <a:stretch/>
        </p:blipFill>
        <p:spPr>
          <a:xfrm>
            <a:off x="6026400" y="1908720"/>
            <a:ext cx="3773520" cy="21240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Okay, so what does it include?</a:t>
            </a:r>
            <a:endParaRPr b="0" lang="en-US" sz="3300" spc="-1" strike="noStrike">
              <a:solidFill>
                <a:srgbClr val="000000"/>
              </a:solidFill>
              <a:latin typeface="Calibri"/>
            </a:endParaRPr>
          </a:p>
        </p:txBody>
      </p:sp>
      <p:sp>
        <p:nvSpPr>
          <p:cNvPr id="97"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We’re going to do an overview of a whole bunch of potentially useful functions today, that you can use within your code.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You shouldn’t view this as a lesson to memorise, but perhaps a slide deck that you can save, or even print out, and refer too</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This isn’t an exhaustive list of all included functions, but merely the ones I’ve found most useful.</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abs()</a:t>
            </a:r>
            <a:endParaRPr b="0" lang="en-US" sz="3300" spc="-1" strike="noStrike">
              <a:solidFill>
                <a:srgbClr val="000000"/>
              </a:solidFill>
              <a:latin typeface="Calibri"/>
            </a:endParaRPr>
          </a:p>
        </p:txBody>
      </p:sp>
      <p:sp>
        <p:nvSpPr>
          <p:cNvPr id="99"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Stands for “absolute value” i.e. the magnitude of the different from zero, regardless of whether that is positive or negative.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Examples:</a:t>
            </a:r>
            <a:endParaRPr b="0" lang="en-GB" sz="2400" spc="-1" strike="noStrike">
              <a:latin typeface="Arial"/>
            </a:endParaRPr>
          </a:p>
        </p:txBody>
      </p:sp>
      <p:pic>
        <p:nvPicPr>
          <p:cNvPr id="100" name="Picture 4" descr=""/>
          <p:cNvPicPr/>
          <p:nvPr/>
        </p:nvPicPr>
        <p:blipFill>
          <a:blip r:embed="rId1"/>
          <a:stretch/>
        </p:blipFill>
        <p:spPr>
          <a:xfrm>
            <a:off x="3298320" y="2170440"/>
            <a:ext cx="3048120" cy="26575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all() any()</a:t>
            </a:r>
            <a:endParaRPr b="0" lang="en-US" sz="3300" spc="-1" strike="noStrike">
              <a:solidFill>
                <a:srgbClr val="000000"/>
              </a:solidFill>
              <a:latin typeface="Calibri"/>
            </a:endParaRPr>
          </a:p>
        </p:txBody>
      </p:sp>
      <p:sp>
        <p:nvSpPr>
          <p:cNvPr id="102" name="PlaceHolder 2"/>
          <p:cNvSpPr>
            <a:spLocks noGrp="1"/>
          </p:cNvSpPr>
          <p:nvPr>
            <p:ph/>
          </p:nvPr>
        </p:nvSpPr>
        <p:spPr>
          <a:xfrm>
            <a:off x="504000" y="1326600"/>
            <a:ext cx="4113720" cy="3287880"/>
          </a:xfrm>
          <a:prstGeom prst="rect">
            <a:avLst/>
          </a:prstGeom>
          <a:noFill/>
          <a:ln w="0">
            <a:noFill/>
          </a:ln>
        </p:spPr>
        <p:txBody>
          <a:bodyPr lIns="0" rIns="0" tIns="0" bIns="0" anchor="t">
            <a:normAutofit fontScale="87000"/>
          </a:bodyPr>
          <a:p>
            <a:pPr>
              <a:lnSpc>
                <a:spcPct val="100000"/>
              </a:lnSpc>
              <a:spcBef>
                <a:spcPts val="1060"/>
              </a:spcBef>
              <a:buNone/>
              <a:tabLst>
                <a:tab algn="l" pos="0"/>
              </a:tabLst>
            </a:pPr>
            <a:r>
              <a:rPr b="0" lang="en-GB" sz="2400" spc="-1" strike="noStrike">
                <a:latin typeface="Arial"/>
              </a:rPr>
              <a:t>All and any, are very similar functions, and both accept an iterable as a parameter</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All will return true if </a:t>
            </a:r>
            <a:r>
              <a:rPr b="0" i="1" lang="en-GB" sz="2400" spc="-1" strike="noStrike">
                <a:latin typeface="Arial"/>
              </a:rPr>
              <a:t>all</a:t>
            </a:r>
            <a:r>
              <a:rPr b="0" lang="en-GB" sz="2400" spc="-1" strike="noStrike">
                <a:latin typeface="Arial"/>
              </a:rPr>
              <a:t> elements within the iterable are True (or if the iterable is empty)</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Any will return true if </a:t>
            </a:r>
            <a:r>
              <a:rPr b="0" i="1" lang="en-GB" sz="2400" spc="-1" strike="noStrike">
                <a:latin typeface="Arial"/>
              </a:rPr>
              <a:t>any</a:t>
            </a:r>
            <a:r>
              <a:rPr b="0" lang="en-GB" sz="2400" spc="-1" strike="noStrike">
                <a:latin typeface="Arial"/>
              </a:rPr>
              <a:t> elements within the iterable are True, or False if the iterable is empty.</a:t>
            </a:r>
            <a:endParaRPr b="0" lang="en-GB" sz="2400" spc="-1" strike="noStrike">
              <a:latin typeface="Arial"/>
            </a:endParaRPr>
          </a:p>
        </p:txBody>
      </p:sp>
      <p:pic>
        <p:nvPicPr>
          <p:cNvPr id="103" name="Picture 5" descr=""/>
          <p:cNvPicPr/>
          <p:nvPr/>
        </p:nvPicPr>
        <p:blipFill>
          <a:blip r:embed="rId1"/>
          <a:stretch/>
        </p:blipFill>
        <p:spPr>
          <a:xfrm>
            <a:off x="4618080" y="1558440"/>
            <a:ext cx="4800960" cy="3210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help()</a:t>
            </a:r>
            <a:endParaRPr b="0" lang="en-US" sz="3300" spc="-1" strike="noStrike">
              <a:solidFill>
                <a:srgbClr val="000000"/>
              </a:solidFill>
              <a:latin typeface="Calibri"/>
            </a:endParaRPr>
          </a:p>
        </p:txBody>
      </p:sp>
      <p:sp>
        <p:nvSpPr>
          <p:cNvPr id="105" name="PlaceHolder 2"/>
          <p:cNvSpPr>
            <a:spLocks noGrp="1"/>
          </p:cNvSpPr>
          <p:nvPr>
            <p:ph/>
          </p:nvPr>
        </p:nvSpPr>
        <p:spPr>
          <a:xfrm>
            <a:off x="504000" y="1326600"/>
            <a:ext cx="348732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The help function displays help associated with the object that is passed into it – i.e. you can ask python to help you understand a function or object and it will try to do so </a:t>
            </a:r>
            <a:r>
              <a:rPr b="0" lang="en-GB" sz="2400" spc="-1" strike="noStrike">
                <a:latin typeface="Wingdings"/>
              </a:rPr>
              <a:t></a:t>
            </a:r>
            <a:endParaRPr b="0" lang="en-GB" sz="2400" spc="-1" strike="noStrike">
              <a:latin typeface="Arial"/>
            </a:endParaRPr>
          </a:p>
        </p:txBody>
      </p:sp>
      <p:pic>
        <p:nvPicPr>
          <p:cNvPr id="106" name="Picture 4" descr=""/>
          <p:cNvPicPr/>
          <p:nvPr/>
        </p:nvPicPr>
        <p:blipFill>
          <a:blip r:embed="rId1"/>
          <a:stretch/>
        </p:blipFill>
        <p:spPr>
          <a:xfrm>
            <a:off x="4125960" y="1620720"/>
            <a:ext cx="5304600" cy="19184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len()</a:t>
            </a:r>
            <a:endParaRPr b="0" lang="en-US" sz="3300" spc="-1" strike="noStrike">
              <a:solidFill>
                <a:srgbClr val="000000"/>
              </a:solidFill>
              <a:latin typeface="Calibri"/>
            </a:endParaRPr>
          </a:p>
        </p:txBody>
      </p:sp>
      <p:sp>
        <p:nvSpPr>
          <p:cNvPr id="108" name="PlaceHolder 2"/>
          <p:cNvSpPr>
            <a:spLocks noGrp="1"/>
          </p:cNvSpPr>
          <p:nvPr>
            <p:ph/>
          </p:nvPr>
        </p:nvSpPr>
        <p:spPr>
          <a:xfrm>
            <a:off x="504000" y="1326600"/>
            <a:ext cx="474264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This function returns the number of items in an object – i.e. the length of a string, or the number of items in a list – you’ll find yourself using this quite often, particularly when using loops etc.</a:t>
            </a:r>
            <a:endParaRPr b="0" lang="en-GB" sz="2400" spc="-1" strike="noStrike">
              <a:latin typeface="Arial"/>
            </a:endParaRPr>
          </a:p>
        </p:txBody>
      </p:sp>
      <p:pic>
        <p:nvPicPr>
          <p:cNvPr id="109" name="Picture 4" descr=""/>
          <p:cNvPicPr/>
          <p:nvPr/>
        </p:nvPicPr>
        <p:blipFill>
          <a:blip r:embed="rId1"/>
          <a:stretch/>
        </p:blipFill>
        <p:spPr>
          <a:xfrm>
            <a:off x="5852520" y="1397160"/>
            <a:ext cx="3466080" cy="34585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max() and min()</a:t>
            </a:r>
            <a:endParaRPr b="0" lang="en-US" sz="3300" spc="-1" strike="noStrike">
              <a:solidFill>
                <a:srgbClr val="000000"/>
              </a:solidFill>
              <a:latin typeface="Calibri"/>
            </a:endParaRPr>
          </a:p>
        </p:txBody>
      </p:sp>
      <p:sp>
        <p:nvSpPr>
          <p:cNvPr id="111" name="PlaceHolder 2"/>
          <p:cNvSpPr>
            <a:spLocks noGrp="1"/>
          </p:cNvSpPr>
          <p:nvPr>
            <p:ph/>
          </p:nvPr>
        </p:nvSpPr>
        <p:spPr>
          <a:xfrm>
            <a:off x="504000" y="1326600"/>
            <a:ext cx="3912480" cy="3287880"/>
          </a:xfrm>
          <a:prstGeom prst="rect">
            <a:avLst/>
          </a:prstGeom>
          <a:noFill/>
          <a:ln w="0">
            <a:noFill/>
          </a:ln>
        </p:spPr>
        <p:txBody>
          <a:bodyPr lIns="0" rIns="0" tIns="0" bIns="0" anchor="t">
            <a:normAutofit fontScale="99000"/>
          </a:bodyPr>
          <a:p>
            <a:pPr>
              <a:lnSpc>
                <a:spcPct val="100000"/>
              </a:lnSpc>
              <a:spcBef>
                <a:spcPts val="1060"/>
              </a:spcBef>
              <a:buNone/>
              <a:tabLst>
                <a:tab algn="l" pos="0"/>
              </a:tabLst>
            </a:pPr>
            <a:r>
              <a:rPr b="0" lang="en-GB" sz="2400" spc="-1" strike="noStrike">
                <a:latin typeface="Arial"/>
              </a:rPr>
              <a:t>We’ve seen these before, max will </a:t>
            </a:r>
            <a:r>
              <a:rPr b="0" lang="en-GB" sz="2400" spc="-1" strike="noStrike">
                <a:latin typeface="Arial"/>
              </a:rPr>
              <a:t>return the largest element of an </a:t>
            </a:r>
            <a:r>
              <a:rPr b="0" lang="en-GB" sz="2400" spc="-1" strike="noStrike">
                <a:latin typeface="Arial"/>
              </a:rPr>
              <a:t>iterable, or the largest of the </a:t>
            </a:r>
            <a:r>
              <a:rPr b="0" lang="en-GB" sz="2400" spc="-1" strike="noStrike">
                <a:latin typeface="Arial"/>
              </a:rPr>
              <a:t>arguments it’s given. Min will do </a:t>
            </a:r>
            <a:r>
              <a:rPr b="0" lang="en-GB" sz="2400" spc="-1" strike="noStrike">
                <a:latin typeface="Arial"/>
              </a:rPr>
              <a:t>similar, except returning the </a:t>
            </a:r>
            <a:r>
              <a:rPr b="0" lang="en-GB" sz="2400" spc="-1" strike="noStrike">
                <a:latin typeface="Arial"/>
              </a:rPr>
              <a:t>smallest element of an iterable or </a:t>
            </a:r>
            <a:r>
              <a:rPr b="0" lang="en-GB" sz="2400" spc="-1" strike="noStrike">
                <a:latin typeface="Arial"/>
              </a:rPr>
              <a:t>the smallest of the arguments it’s </a:t>
            </a:r>
            <a:r>
              <a:rPr b="0" lang="en-GB" sz="2400" spc="-1" strike="noStrike">
                <a:latin typeface="Arial"/>
              </a:rPr>
              <a:t>given.</a:t>
            </a:r>
            <a:endParaRPr b="0" lang="en-GB" sz="2400" spc="-1" strike="noStrike">
              <a:latin typeface="Arial"/>
            </a:endParaRPr>
          </a:p>
        </p:txBody>
      </p:sp>
      <p:pic>
        <p:nvPicPr>
          <p:cNvPr id="112" name="Picture 4" descr=""/>
          <p:cNvPicPr/>
          <p:nvPr/>
        </p:nvPicPr>
        <p:blipFill>
          <a:blip r:embed="rId1"/>
          <a:stretch/>
        </p:blipFill>
        <p:spPr>
          <a:xfrm>
            <a:off x="4915440" y="2436840"/>
            <a:ext cx="4286520" cy="2533680"/>
          </a:xfrm>
          <a:prstGeom prst="rect">
            <a:avLst/>
          </a:prstGeom>
          <a:ln w="0">
            <a:noFill/>
          </a:ln>
        </p:spPr>
      </p:pic>
      <p:pic>
        <p:nvPicPr>
          <p:cNvPr id="113" name="Picture 6" descr=""/>
          <p:cNvPicPr/>
          <p:nvPr/>
        </p:nvPicPr>
        <p:blipFill>
          <a:blip r:embed="rId2"/>
          <a:stretch/>
        </p:blipFill>
        <p:spPr>
          <a:xfrm>
            <a:off x="5277600" y="2034720"/>
            <a:ext cx="3562560" cy="4284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reversed(), sorted(), </a:t>
            </a:r>
            <a:endParaRPr b="0" lang="en-US" sz="3300" spc="-1" strike="noStrike">
              <a:solidFill>
                <a:srgbClr val="000000"/>
              </a:solidFill>
              <a:latin typeface="Calibri"/>
            </a:endParaRPr>
          </a:p>
        </p:txBody>
      </p:sp>
      <p:sp>
        <p:nvSpPr>
          <p:cNvPr id="115" name="PlaceHolder 2"/>
          <p:cNvSpPr>
            <a:spLocks noGrp="1"/>
          </p:cNvSpPr>
          <p:nvPr>
            <p:ph/>
          </p:nvPr>
        </p:nvSpPr>
        <p:spPr>
          <a:xfrm>
            <a:off x="504000" y="1857600"/>
            <a:ext cx="2705040" cy="26992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Reversed returns a reversed iterator of the iterator supplied. Sorted returns a sorted list of the iterator supplied.</a:t>
            </a:r>
            <a:endParaRPr b="0" lang="en-GB" sz="2400" spc="-1" strike="noStrike">
              <a:latin typeface="Arial"/>
            </a:endParaRPr>
          </a:p>
        </p:txBody>
      </p:sp>
      <p:pic>
        <p:nvPicPr>
          <p:cNvPr id="116" name="Picture 4" descr=""/>
          <p:cNvPicPr/>
          <p:nvPr/>
        </p:nvPicPr>
        <p:blipFill>
          <a:blip r:embed="rId1"/>
          <a:stretch/>
        </p:blipFill>
        <p:spPr>
          <a:xfrm>
            <a:off x="3209400" y="1730160"/>
            <a:ext cx="5936040" cy="21283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zip()</a:t>
            </a:r>
            <a:endParaRPr b="0" lang="en-US" sz="3300" spc="-1" strike="noStrike">
              <a:solidFill>
                <a:srgbClr val="000000"/>
              </a:solidFill>
              <a:latin typeface="Calibri"/>
            </a:endParaRPr>
          </a:p>
        </p:txBody>
      </p:sp>
      <p:sp>
        <p:nvSpPr>
          <p:cNvPr id="118" name="PlaceHolder 2"/>
          <p:cNvSpPr>
            <a:spLocks noGrp="1"/>
          </p:cNvSpPr>
          <p:nvPr>
            <p:ph/>
          </p:nvPr>
        </p:nvSpPr>
        <p:spPr>
          <a:xfrm>
            <a:off x="504000" y="1326600"/>
            <a:ext cx="3049560" cy="3287880"/>
          </a:xfrm>
          <a:prstGeom prst="rect">
            <a:avLst/>
          </a:prstGeom>
          <a:noFill/>
          <a:ln w="0">
            <a:noFill/>
          </a:ln>
        </p:spPr>
        <p:txBody>
          <a:bodyPr lIns="0" rIns="0" tIns="0" bIns="0" anchor="t">
            <a:normAutofit/>
          </a:bodyPr>
          <a:p>
            <a:pPr>
              <a:lnSpc>
                <a:spcPct val="100000"/>
              </a:lnSpc>
              <a:spcBef>
                <a:spcPts val="1060"/>
              </a:spcBef>
              <a:buNone/>
              <a:tabLst>
                <a:tab algn="l" pos="0"/>
              </a:tabLst>
            </a:pPr>
            <a:r>
              <a:rPr b="0" lang="en-GB" sz="2400" spc="-1" strike="noStrike">
                <a:latin typeface="Arial"/>
              </a:rPr>
              <a:t>Zip returns an iterator that combines two or more iterators together, alternately, using tuplies – it’s probably easier to visualise than to explain.</a:t>
            </a:r>
            <a:endParaRPr b="0" lang="en-GB" sz="2400" spc="-1" strike="noStrike">
              <a:latin typeface="Arial"/>
            </a:endParaRPr>
          </a:p>
        </p:txBody>
      </p:sp>
      <p:pic>
        <p:nvPicPr>
          <p:cNvPr id="119" name="Picture 4" descr=""/>
          <p:cNvPicPr/>
          <p:nvPr/>
        </p:nvPicPr>
        <p:blipFill>
          <a:blip r:embed="rId1"/>
          <a:stretch/>
        </p:blipFill>
        <p:spPr>
          <a:xfrm>
            <a:off x="3634560" y="1564200"/>
            <a:ext cx="5940720" cy="15703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Usefulness of Zip</a:t>
            </a:r>
            <a:endParaRPr b="0" lang="en-US" sz="3300" spc="-1" strike="noStrike">
              <a:solidFill>
                <a:srgbClr val="000000"/>
              </a:solidFill>
              <a:latin typeface="Calibri"/>
            </a:endParaRPr>
          </a:p>
        </p:txBody>
      </p:sp>
      <p:sp>
        <p:nvSpPr>
          <p:cNvPr id="121" name="PlaceHolder 2"/>
          <p:cNvSpPr>
            <a:spLocks noGrp="1"/>
          </p:cNvSpPr>
          <p:nvPr>
            <p:ph/>
          </p:nvPr>
        </p:nvSpPr>
        <p:spPr>
          <a:xfrm>
            <a:off x="504000" y="1326600"/>
            <a:ext cx="3728160" cy="3287880"/>
          </a:xfrm>
          <a:prstGeom prst="rect">
            <a:avLst/>
          </a:prstGeom>
          <a:noFill/>
          <a:ln w="0">
            <a:noFill/>
          </a:ln>
        </p:spPr>
        <p:txBody>
          <a:bodyPr lIns="0" rIns="0" tIns="0" bIns="0" anchor="t">
            <a:normAutofit fontScale="85000"/>
          </a:bodyPr>
          <a:p>
            <a:pPr>
              <a:lnSpc>
                <a:spcPct val="100000"/>
              </a:lnSpc>
              <a:spcBef>
                <a:spcPts val="1060"/>
              </a:spcBef>
              <a:buNone/>
              <a:tabLst>
                <a:tab algn="l" pos="0"/>
              </a:tabLst>
            </a:pPr>
            <a:r>
              <a:rPr b="0" lang="en-GB" sz="2400" spc="-1" strike="noStrike">
                <a:latin typeface="Arial"/>
              </a:rPr>
              <a:t>Zip is used a lot to turn situations that would otherwise require multiple loops, or numerical indices, into a single loop, as in the demo.</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This both avoids multiple loops (which are slow in python) and makes the code clearer, so long as you understand what zip does.</a:t>
            </a:r>
            <a:endParaRPr b="0" lang="en-GB" sz="2400" spc="-1" strike="noStrike">
              <a:latin typeface="Arial"/>
            </a:endParaRPr>
          </a:p>
        </p:txBody>
      </p:sp>
      <p:pic>
        <p:nvPicPr>
          <p:cNvPr id="122" name="Picture 4" descr=""/>
          <p:cNvPicPr/>
          <p:nvPr/>
        </p:nvPicPr>
        <p:blipFill>
          <a:blip r:embed="rId1"/>
          <a:stretch/>
        </p:blipFill>
        <p:spPr>
          <a:xfrm>
            <a:off x="4181400" y="1501200"/>
            <a:ext cx="5393880" cy="26967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Included Python modules</a:t>
            </a:r>
            <a:endParaRPr b="0" lang="en-US" sz="3300" spc="-1" strike="noStrike">
              <a:solidFill>
                <a:srgbClr val="000000"/>
              </a:solidFill>
              <a:latin typeface="Calibri"/>
            </a:endParaRPr>
          </a:p>
        </p:txBody>
      </p:sp>
      <p:sp>
        <p:nvSpPr>
          <p:cNvPr id="124" name="PlaceHolder 2"/>
          <p:cNvSpPr>
            <a:spLocks noGrp="1"/>
          </p:cNvSpPr>
          <p:nvPr>
            <p:ph/>
          </p:nvPr>
        </p:nvSpPr>
        <p:spPr>
          <a:xfrm>
            <a:off x="504000" y="1326600"/>
            <a:ext cx="3688200" cy="3287880"/>
          </a:xfrm>
          <a:prstGeom prst="rect">
            <a:avLst/>
          </a:prstGeom>
          <a:noFill/>
          <a:ln w="0">
            <a:noFill/>
          </a:ln>
        </p:spPr>
        <p:txBody>
          <a:bodyPr lIns="0" rIns="0" tIns="0" bIns="0" anchor="t">
            <a:normAutofit fontScale="76000"/>
          </a:bodyPr>
          <a:p>
            <a:pPr>
              <a:lnSpc>
                <a:spcPct val="100000"/>
              </a:lnSpc>
              <a:spcBef>
                <a:spcPts val="1060"/>
              </a:spcBef>
              <a:buNone/>
              <a:tabLst>
                <a:tab algn="l" pos="0"/>
              </a:tabLst>
            </a:pPr>
            <a:r>
              <a:rPr b="0" lang="en-GB" sz="2400" spc="-1" strike="noStrike">
                <a:latin typeface="Arial"/>
              </a:rPr>
              <a:t>As well as the built in functions, we can use some modules that </a:t>
            </a:r>
            <a:r>
              <a:rPr b="0" lang="en-GB" sz="2400" spc="-1" strike="noStrike">
                <a:latin typeface="Arial"/>
              </a:rPr>
              <a:t>Python has included by default</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We briefly demonstrated this with a import statement</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This import statement is one way to bring in a third-party module to </a:t>
            </a:r>
            <a:r>
              <a:rPr b="0" lang="en-GB" sz="2400" spc="-1" strike="noStrike">
                <a:latin typeface="Arial"/>
              </a:rPr>
              <a:t>python, so for example python includes a math library – we can use </a:t>
            </a:r>
            <a:r>
              <a:rPr b="0" lang="en-GB" sz="2400" spc="-1" strike="noStrike">
                <a:latin typeface="Arial"/>
              </a:rPr>
              <a:t>import math to access functionality</a:t>
            </a:r>
            <a:endParaRPr b="0" lang="en-GB" sz="2400" spc="-1" strike="noStrike">
              <a:latin typeface="Arial"/>
            </a:endParaRPr>
          </a:p>
        </p:txBody>
      </p:sp>
      <p:pic>
        <p:nvPicPr>
          <p:cNvPr id="125" name="Picture 4" descr=""/>
          <p:cNvPicPr/>
          <p:nvPr/>
        </p:nvPicPr>
        <p:blipFill>
          <a:blip r:embed="rId1"/>
          <a:stretch/>
        </p:blipFill>
        <p:spPr>
          <a:xfrm>
            <a:off x="4511880" y="1332360"/>
            <a:ext cx="4296240" cy="36630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How do I know what modules to use?</a:t>
            </a:r>
            <a:endParaRPr b="0" lang="en-US" sz="3300" spc="-1" strike="noStrike">
              <a:solidFill>
                <a:srgbClr val="000000"/>
              </a:solidFill>
              <a:latin typeface="Calibri"/>
            </a:endParaRPr>
          </a:p>
        </p:txBody>
      </p:sp>
      <p:sp>
        <p:nvSpPr>
          <p:cNvPr id="127" name="PlaceHolder 2"/>
          <p:cNvSpPr>
            <a:spLocks noGrp="1"/>
          </p:cNvSpPr>
          <p:nvPr>
            <p:ph/>
          </p:nvPr>
        </p:nvSpPr>
        <p:spPr>
          <a:xfrm>
            <a:off x="504000" y="1326600"/>
            <a:ext cx="226764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We can get a list of the currently available modules, by calling help(‘modules’):</a:t>
            </a:r>
            <a:endParaRPr b="0" lang="en-GB" sz="2400" spc="-1" strike="noStrike">
              <a:latin typeface="Arial"/>
            </a:endParaRPr>
          </a:p>
        </p:txBody>
      </p:sp>
      <p:pic>
        <p:nvPicPr>
          <p:cNvPr id="128" name="Picture 4" descr=""/>
          <p:cNvPicPr/>
          <p:nvPr/>
        </p:nvPicPr>
        <p:blipFill>
          <a:blip r:embed="rId1"/>
          <a:stretch/>
        </p:blipFill>
        <p:spPr>
          <a:xfrm>
            <a:off x="3325680" y="1230840"/>
            <a:ext cx="5448240" cy="40255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How many modules are available?</a:t>
            </a:r>
            <a:endParaRPr b="0" lang="en-US" sz="3300" spc="-1" strike="noStrike">
              <a:solidFill>
                <a:srgbClr val="000000"/>
              </a:solidFill>
              <a:latin typeface="Calibri"/>
            </a:endParaRPr>
          </a:p>
        </p:txBody>
      </p:sp>
      <p:sp>
        <p:nvSpPr>
          <p:cNvPr id="130"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There is a list of built in default modules available </a:t>
            </a:r>
            <a:r>
              <a:rPr b="0" lang="en-GB" sz="2400" spc="-1" strike="noStrike" u="sng">
                <a:solidFill>
                  <a:srgbClr val="0563c1"/>
                </a:solidFill>
                <a:uFillTx/>
                <a:latin typeface="Arial"/>
                <a:hlinkClick r:id="rId1"/>
              </a:rPr>
              <a:t>here</a:t>
            </a:r>
            <a:endParaRPr b="0" lang="en-GB" sz="2400" spc="-1" strike="noStrike">
              <a:latin typeface="Arial"/>
            </a:endParaRPr>
          </a:p>
          <a:p>
            <a:pPr>
              <a:lnSpc>
                <a:spcPct val="100000"/>
              </a:lnSpc>
              <a:spcBef>
                <a:spcPts val="1060"/>
              </a:spcBef>
              <a:buNone/>
              <a:tabLst>
                <a:tab algn="l" pos="0"/>
              </a:tabLst>
            </a:pP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Which demonstrates how much functionality is included in python by default – remember as well as this there are thousands of third-party packages – this is just what python includes with the standard installation.</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Installing Packages</a:t>
            </a:r>
            <a:endParaRPr b="0" lang="en-US" sz="3300" spc="-1" strike="noStrike">
              <a:solidFill>
                <a:srgbClr val="000000"/>
              </a:solidFill>
              <a:latin typeface="Calibri"/>
            </a:endParaRPr>
          </a:p>
        </p:txBody>
      </p:sp>
      <p:sp>
        <p:nvSpPr>
          <p:cNvPr id="132"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Okay – say you want to use one of those third-party packages</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Perhaps a tool to create graphs, like matplotlib, or a tool to do some automated data-profiling, like pandas-profiling, or a tool for loading and handling data, like pandas?</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You can install these using conda, or pip.</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A note on environments</a:t>
            </a:r>
            <a:endParaRPr b="0" lang="en-US" sz="3300" spc="-1" strike="noStrike">
              <a:solidFill>
                <a:srgbClr val="000000"/>
              </a:solidFill>
              <a:latin typeface="Calibri"/>
            </a:endParaRPr>
          </a:p>
        </p:txBody>
      </p:sp>
      <p:sp>
        <p:nvSpPr>
          <p:cNvPr id="134"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By default python is “system-wide” this means that if you install packages, they are installed for every python program on your system.</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This may not seem like an issue, but different versions of libraries have different compatibilities, and require specific other versions of libraries – over time you can end up entirely breaking your system-wide python and making it unusable.</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So what do we do?</a:t>
            </a:r>
            <a:endParaRPr b="0" lang="en-US" sz="3300" spc="-1" strike="noStrike">
              <a:solidFill>
                <a:srgbClr val="000000"/>
              </a:solidFill>
              <a:latin typeface="Calibri"/>
            </a:endParaRPr>
          </a:p>
        </p:txBody>
      </p:sp>
      <p:sp>
        <p:nvSpPr>
          <p:cNvPr id="136"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2000"/>
          </a:bodyPr>
          <a:p>
            <a:pPr>
              <a:lnSpc>
                <a:spcPct val="100000"/>
              </a:lnSpc>
              <a:spcBef>
                <a:spcPts val="1060"/>
              </a:spcBef>
              <a:buNone/>
              <a:tabLst>
                <a:tab algn="l" pos="0"/>
              </a:tabLst>
            </a:pPr>
            <a:r>
              <a:rPr b="0" lang="en-GB" sz="2400" spc="-1" strike="noStrike">
                <a:latin typeface="Arial"/>
              </a:rPr>
              <a:t>This is why we’ve been using conda – it is one available tool, popular among data scientists, for managing python environments.</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Each conda environment has its own copy of python, and its own set of python libraries installed, that are only available when a python program is run from that environment.</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My advice would be </a:t>
            </a:r>
            <a:r>
              <a:rPr b="1" lang="en-GB" sz="2400" spc="-1" strike="noStrike">
                <a:latin typeface="Arial"/>
              </a:rPr>
              <a:t>never</a:t>
            </a:r>
            <a:r>
              <a:rPr b="0" lang="en-GB" sz="2400" spc="-1" strike="noStrike">
                <a:latin typeface="Arial"/>
              </a:rPr>
              <a:t> to install anything in </a:t>
            </a:r>
            <a:r>
              <a:rPr b="1" lang="en-GB" sz="2400" spc="-1" strike="noStrike">
                <a:latin typeface="Arial"/>
              </a:rPr>
              <a:t>base</a:t>
            </a:r>
            <a:r>
              <a:rPr b="0" lang="en-GB" sz="2400" spc="-1" strike="noStrike">
                <a:latin typeface="Arial"/>
              </a:rPr>
              <a:t> always keep that default – and create new environments for every project you do – that should very much minimise any library compatibility issues you encounter.</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Creating a Conda Environment</a:t>
            </a:r>
            <a:endParaRPr b="0" lang="en-US" sz="3300" spc="-1" strike="noStrike">
              <a:solidFill>
                <a:srgbClr val="000000"/>
              </a:solidFill>
              <a:latin typeface="Calibri"/>
            </a:endParaRPr>
          </a:p>
        </p:txBody>
      </p:sp>
      <p:sp>
        <p:nvSpPr>
          <p:cNvPr id="138"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You’ve already seen me do this – way back in session 1.</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The command is:</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conda create –n MY_NEW_ENVIRONMENT_NAME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Then to install modules into this – we can use the command:</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conda install PACKAGE_NAME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Conda will attempt to find the package in its repositories to download and install it for you. We’ve all had a go at this already.</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What if the module isn’t in conda?</a:t>
            </a:r>
            <a:endParaRPr b="0" lang="en-US" sz="3300" spc="-1" strike="noStrike">
              <a:solidFill>
                <a:srgbClr val="000000"/>
              </a:solidFill>
              <a:latin typeface="Calibri"/>
            </a:endParaRPr>
          </a:p>
        </p:txBody>
      </p:sp>
      <p:sp>
        <p:nvSpPr>
          <p:cNvPr id="140" name="PlaceHolder 2"/>
          <p:cNvSpPr>
            <a:spLocks noGrp="1"/>
          </p:cNvSpPr>
          <p:nvPr>
            <p:ph/>
          </p:nvPr>
        </p:nvSpPr>
        <p:spPr>
          <a:xfrm>
            <a:off x="504000" y="1326600"/>
            <a:ext cx="9071280" cy="3287880"/>
          </a:xfrm>
          <a:prstGeom prst="rect">
            <a:avLst/>
          </a:prstGeom>
          <a:noFill/>
          <a:ln w="0">
            <a:noFill/>
          </a:ln>
        </p:spPr>
        <p:txBody>
          <a:bodyPr lIns="0" rIns="0" tIns="0" bIns="0" anchor="t">
            <a:noAutofit/>
          </a:bodyPr>
          <a:p>
            <a:pPr>
              <a:lnSpc>
                <a:spcPct val="100000"/>
              </a:lnSpc>
              <a:spcBef>
                <a:spcPts val="1060"/>
              </a:spcBef>
              <a:buNone/>
              <a:tabLst>
                <a:tab algn="l" pos="0"/>
              </a:tabLst>
            </a:pPr>
            <a:r>
              <a:rPr b="0" lang="en-GB" sz="2400" spc="-1" strike="noStrike">
                <a:latin typeface="Arial"/>
              </a:rPr>
              <a:t>Conda doesn’t have every single module unfortunately.</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A lot of the time, packages that aren’t in conda, are available through conda-forge, which is another repository that users can place packages in for use.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Sometimes when even that fails – you need to resort to using pip – pip is the standard python package manager, and has pretty much every python package available – but it doesn’t always play perfectly with conda</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Using Pip</a:t>
            </a:r>
            <a:endParaRPr b="0" lang="en-US" sz="3300" spc="-1" strike="noStrike">
              <a:solidFill>
                <a:srgbClr val="000000"/>
              </a:solidFill>
              <a:latin typeface="Calibri"/>
            </a:endParaRPr>
          </a:p>
        </p:txBody>
      </p:sp>
      <p:sp>
        <p:nvSpPr>
          <p:cNvPr id="142"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96000"/>
          </a:bodyPr>
          <a:p>
            <a:pPr>
              <a:lnSpc>
                <a:spcPct val="100000"/>
              </a:lnSpc>
              <a:spcBef>
                <a:spcPts val="1060"/>
              </a:spcBef>
              <a:buNone/>
              <a:tabLst>
                <a:tab algn="l" pos="0"/>
              </a:tabLst>
            </a:pPr>
            <a:r>
              <a:rPr b="0" lang="en-GB" sz="2400" spc="-1" strike="noStrike">
                <a:latin typeface="Arial"/>
              </a:rPr>
              <a:t>Pip can be used to install a package or packages with the command:</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pip install PACKAGE_NAME, PACKAGE_NAME2, …</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As it doesn’t always work perfectly with conda’s installer, my advice is to always install everything you can in an environment using conda, and then add any packages not available using pip. Once you’ve installed packages using pip in a conda environment, try to steer clear of using conda any further or you could break the environment.</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User Guides</a:t>
            </a:r>
            <a:endParaRPr b="0" lang="en-US" sz="3300" spc="-1" strike="noStrike">
              <a:solidFill>
                <a:srgbClr val="000000"/>
              </a:solidFill>
              <a:latin typeface="Calibri"/>
            </a:endParaRPr>
          </a:p>
        </p:txBody>
      </p:sp>
      <p:sp>
        <p:nvSpPr>
          <p:cNvPr id="144" name="PlaceHolder 2"/>
          <p:cNvSpPr>
            <a:spLocks noGrp="1"/>
          </p:cNvSpPr>
          <p:nvPr>
            <p:ph/>
          </p:nvPr>
        </p:nvSpPr>
        <p:spPr>
          <a:xfrm>
            <a:off x="504000" y="1326600"/>
            <a:ext cx="9071280" cy="3287880"/>
          </a:xfrm>
          <a:prstGeom prst="rect">
            <a:avLst/>
          </a:prstGeom>
          <a:noFill/>
          <a:ln w="0">
            <a:noFill/>
          </a:ln>
        </p:spPr>
        <p:txBody>
          <a:bodyPr lIns="0" rIns="0" tIns="0" bIns="0" anchor="t">
            <a:normAutofit fontScale="82000"/>
          </a:bodyPr>
          <a:p>
            <a:pPr>
              <a:lnSpc>
                <a:spcPct val="100000"/>
              </a:lnSpc>
              <a:spcBef>
                <a:spcPts val="1060"/>
              </a:spcBef>
              <a:buNone/>
              <a:tabLst>
                <a:tab algn="l" pos="0"/>
              </a:tabLst>
            </a:pPr>
            <a:r>
              <a:rPr b="0" lang="en-GB" sz="2400" spc="-1" strike="noStrike">
                <a:latin typeface="Arial"/>
              </a:rPr>
              <a:t>The conda user guide is available </a:t>
            </a:r>
            <a:r>
              <a:rPr b="0" lang="en-GB" sz="2400" spc="-1" strike="noStrike" u="sng">
                <a:solidFill>
                  <a:srgbClr val="0563c1"/>
                </a:solidFill>
                <a:uFillTx/>
                <a:latin typeface="Arial"/>
                <a:hlinkClick r:id="rId1"/>
              </a:rPr>
              <a:t>here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And the pip user guide is available </a:t>
            </a:r>
            <a:r>
              <a:rPr b="0" lang="en-GB" sz="2400" spc="-1" strike="noStrike" u="sng">
                <a:solidFill>
                  <a:srgbClr val="0563c1"/>
                </a:solidFill>
                <a:uFillTx/>
                <a:latin typeface="Arial"/>
                <a:hlinkClick r:id="rId2"/>
              </a:rPr>
              <a:t>here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Whilst I’m at it the git documentation is available </a:t>
            </a:r>
            <a:r>
              <a:rPr b="0" lang="en-GB" sz="2400" spc="-1" strike="noStrike" u="sng">
                <a:solidFill>
                  <a:srgbClr val="0563c1"/>
                </a:solidFill>
                <a:uFillTx/>
                <a:latin typeface="Arial"/>
                <a:hlinkClick r:id="rId3"/>
              </a:rPr>
              <a:t>here</a:t>
            </a:r>
            <a:endParaRPr b="0" lang="en-GB" sz="2400" spc="-1" strike="noStrike">
              <a:latin typeface="Arial"/>
            </a:endParaRPr>
          </a:p>
          <a:p>
            <a:pPr marL="343080" indent="-343080">
              <a:lnSpc>
                <a:spcPct val="100000"/>
              </a:lnSpc>
              <a:spcBef>
                <a:spcPts val="1060"/>
              </a:spcBef>
              <a:buClr>
                <a:srgbClr val="000000"/>
              </a:buClr>
              <a:buFont typeface="Arial"/>
              <a:buChar char="•"/>
              <a:tabLst>
                <a:tab algn="l" pos="0"/>
              </a:tabLst>
            </a:pPr>
            <a:r>
              <a:rPr b="0" lang="en-GB" sz="2400" spc="-1" strike="noStrike">
                <a:latin typeface="Arial"/>
              </a:rPr>
              <a:t>Unfortunately – there are a lot of tools that professional programmers and data scientists utilise</a:t>
            </a:r>
            <a:endParaRPr b="0" lang="en-GB" sz="2400" spc="-1" strike="noStrike">
              <a:latin typeface="Arial"/>
            </a:endParaRPr>
          </a:p>
          <a:p>
            <a:pPr marL="343080" indent="-343080">
              <a:lnSpc>
                <a:spcPct val="100000"/>
              </a:lnSpc>
              <a:spcBef>
                <a:spcPts val="1060"/>
              </a:spcBef>
              <a:buClr>
                <a:srgbClr val="000000"/>
              </a:buClr>
              <a:buFont typeface="Arial"/>
              <a:buChar char="•"/>
              <a:tabLst>
                <a:tab algn="l" pos="0"/>
              </a:tabLst>
            </a:pPr>
            <a:r>
              <a:rPr b="0" lang="en-GB" sz="2400" spc="-1" strike="noStrike">
                <a:latin typeface="Arial"/>
              </a:rPr>
              <a:t>You will start to get good at learning tools quickly, because you’ll have lots of practice</a:t>
            </a:r>
            <a:endParaRPr b="0" lang="en-GB" sz="2400" spc="-1" strike="noStrike">
              <a:latin typeface="Arial"/>
            </a:endParaRPr>
          </a:p>
          <a:p>
            <a:pPr marL="343080" indent="-343080">
              <a:lnSpc>
                <a:spcPct val="100000"/>
              </a:lnSpc>
              <a:spcBef>
                <a:spcPts val="1060"/>
              </a:spcBef>
              <a:buClr>
                <a:srgbClr val="000000"/>
              </a:buClr>
              <a:buFont typeface="Arial"/>
              <a:buChar char="•"/>
              <a:tabLst>
                <a:tab algn="l" pos="0"/>
              </a:tabLst>
            </a:pPr>
            <a:r>
              <a:rPr b="0" lang="en-GB" sz="2400" spc="-1" strike="noStrike">
                <a:latin typeface="Arial"/>
              </a:rPr>
              <a:t>As the tools tend to change relatively frequently – in five years time the standard tools may well be different…</a:t>
            </a:r>
            <a:endParaRPr b="0" lang="en-GB" sz="24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225720"/>
            <a:ext cx="9071280" cy="946440"/>
          </a:xfrm>
          <a:prstGeom prst="rect">
            <a:avLst/>
          </a:prstGeom>
          <a:noFill/>
          <a:ln w="0">
            <a:noFill/>
          </a:ln>
        </p:spPr>
        <p:txBody>
          <a:bodyPr lIns="0" rIns="0" tIns="0" bIns="0" anchor="ctr">
            <a:noAutofit/>
          </a:bodyPr>
          <a:p>
            <a:pPr algn="ctr">
              <a:lnSpc>
                <a:spcPct val="100000"/>
              </a:lnSpc>
              <a:buNone/>
            </a:pPr>
            <a:r>
              <a:rPr b="0" lang="en-GB" sz="3300" spc="-1" strike="noStrike">
                <a:latin typeface="Arial"/>
              </a:rPr>
              <a:t>Tutorial</a:t>
            </a:r>
            <a:endParaRPr b="0" lang="en-US" sz="3300" spc="-1" strike="noStrike">
              <a:solidFill>
                <a:srgbClr val="000000"/>
              </a:solidFill>
              <a:latin typeface="Calibri"/>
            </a:endParaRPr>
          </a:p>
        </p:txBody>
      </p:sp>
      <p:sp>
        <p:nvSpPr>
          <p:cNvPr id="146" name="PlaceHolder 2"/>
          <p:cNvSpPr>
            <a:spLocks noGrp="1"/>
          </p:cNvSpPr>
          <p:nvPr>
            <p:ph/>
          </p:nvPr>
        </p:nvSpPr>
        <p:spPr>
          <a:xfrm>
            <a:off x="504000" y="1418760"/>
            <a:ext cx="6045840" cy="3287880"/>
          </a:xfrm>
          <a:prstGeom prst="rect">
            <a:avLst/>
          </a:prstGeom>
          <a:noFill/>
          <a:ln w="0">
            <a:noFill/>
          </a:ln>
        </p:spPr>
        <p:txBody>
          <a:bodyPr lIns="0" rIns="0" tIns="0" bIns="0" anchor="t">
            <a:normAutofit fontScale="66000"/>
          </a:bodyPr>
          <a:p>
            <a:pPr>
              <a:lnSpc>
                <a:spcPct val="100000"/>
              </a:lnSpc>
              <a:spcBef>
                <a:spcPts val="1060"/>
              </a:spcBef>
              <a:buNone/>
              <a:tabLst>
                <a:tab algn="l" pos="0"/>
              </a:tabLst>
            </a:pPr>
            <a:r>
              <a:rPr b="0" lang="en-GB" sz="2400" spc="-1" strike="noStrike">
                <a:latin typeface="Arial"/>
              </a:rPr>
              <a:t>Use the zip function, to loop through 4 lists simultaneously.</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Try out each of the other functions listed in the slides.</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Investigate the python modules available, pick out one that does something interesting (suggestions: math, multiprocessing, pickle) and based purely on the documentation available, try to use it for its intended purpose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Install and utilise a module from conda – maybe try out fuzzywuzzy from conda-forge – this library lets you compare strings in various ways and get a numerical estimate to how similar they are</a:t>
            </a:r>
            <a:endParaRPr b="0" lang="en-GB" sz="2400" spc="-1" strike="noStrike">
              <a:latin typeface="Arial"/>
            </a:endParaRPr>
          </a:p>
          <a:p>
            <a:pPr>
              <a:lnSpc>
                <a:spcPct val="100000"/>
              </a:lnSpc>
              <a:spcBef>
                <a:spcPts val="1060"/>
              </a:spcBef>
              <a:buNone/>
              <a:tabLst>
                <a:tab algn="l" pos="0"/>
              </a:tabLst>
            </a:pPr>
            <a:r>
              <a:rPr b="0" lang="en-GB" sz="2400" spc="-1" strike="noStrike">
                <a:latin typeface="Arial"/>
              </a:rPr>
              <a:t>Install and utilise a module from pip – maybe try out handcalcs? That lets you render your python maths in a jupyter notebook with real maths notation.</a:t>
            </a:r>
            <a:endParaRPr b="0" lang="en-GB" sz="2400" spc="-1" strike="noStrike">
              <a:latin typeface="Arial"/>
            </a:endParaRPr>
          </a:p>
        </p:txBody>
      </p:sp>
      <p:pic>
        <p:nvPicPr>
          <p:cNvPr id="147" name="Picture 4" descr=""/>
          <p:cNvPicPr/>
          <p:nvPr/>
        </p:nvPicPr>
        <p:blipFill>
          <a:blip r:embed="rId1"/>
          <a:stretch/>
        </p:blipFill>
        <p:spPr>
          <a:xfrm>
            <a:off x="6676560" y="1650600"/>
            <a:ext cx="2818440" cy="22341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391</TotalTime>
  <Application>LibreOffice/7.2.5.2$Linux_X86_64 LibreOffice_project/20$Build-2</Application>
  <AppVersion>15.0000</AppVersion>
  <Words>1375</Words>
  <Paragraphs>84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2020-12-27T17:30:23Z</dcterms:created>
  <dc:creator>William Sayers</dc:creator>
  <dc:description/>
  <dc:language>en-GB</dc:language>
  <cp:lastModifiedBy/>
  <dcterms:modified xsi:type="dcterms:W3CDTF">2022-03-09T23:07:52Z</dcterms:modified>
  <cp:revision>34</cp:revision>
  <dc:subject/>
  <dc:title>Blueprint Plans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23</vt:i4>
  </property>
</Properties>
</file>