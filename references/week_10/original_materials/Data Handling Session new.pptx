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58" r:id="rId7"/>
    <p:sldId id="259" r:id="rId8"/>
    <p:sldId id="260" r:id="rId9"/>
    <p:sldId id="276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D6B64D-2D20-4357-BF0F-B4E83A1BB90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Noto 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6DB8A-F8BF-4876-9C87-9BECD9B5FA20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Noto 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D7602-650E-4602-91F5-1D35686BFC1A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Noto 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777CF-47A2-457B-B2B8-4E9119059872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ABB01AC8-83B7-442D-9C94-061B9FB7A246}" type="slidenum">
              <a:t>‹#›</a:t>
            </a:fld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Noto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37276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E8D15-5E9B-465B-813D-8E4F8EED6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2816E-3946-4E78-AE3B-92201C5667D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1F5CACA-CAD0-404F-82F3-6868CBC7FF3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CB2CE-A07E-4357-91E5-46C8E1F5C59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EBCC2-2435-4286-B5E0-3345D4F7CF9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D4F7C-DAF8-4A4F-9FEA-13F07EF7A4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6CBDC8B2-241E-4ADC-BA74-6A00FE633FA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747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GB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FBEDE-1917-42A0-86F4-1BF723DFFF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781C37-38FA-4009-9FB9-ADEF895279F6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26AD8-8DB4-43C1-9822-FA4E77E8991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29E43-84C8-4401-A3D0-7461F09DFC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A0E2C-C0B3-4821-A135-1526B13F57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54C630-84CF-42D4-9FCB-7356722EFEFC}" type="slidenum">
              <a:t>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32036-6F34-4A0A-8E27-3E1AF9AC661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0778B-ABC8-4BF3-A789-ABAAEF1B39B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5A117-0F5A-455A-BEAC-EE96AB54FAB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A4F13B5-4D8C-464A-ACB3-75C07D1FB2A7}" type="slidenum">
              <a:t>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3CDC6-1510-45E2-AE0D-FE9ED9537E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1C817-DABE-42E7-AC81-98D62F5723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A44FE-1CBA-430F-93A4-FD0A5EA6CBB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DFA4F7C-7D89-4F40-BA9C-A5A027C599E9}" type="slidenum">
              <a:t>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88601-2CB5-4B95-BF49-92155077FBF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75875-C736-45A4-8248-AFF4EA08C6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1ACD1-0160-4C1E-B57A-FA9C5C382E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5839E6C-1BA7-4B22-AECB-4237B4970B24}" type="slidenum">
              <a:t>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07D03-F338-443B-BA2F-53C5C0BFCF9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E80F1-D164-4A26-AF2D-C1FC952E54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656DD-46E3-4BEC-AC10-335B3B000C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C489E59-B0BD-43DD-89AC-AD486100DA0E}" type="slidenum">
              <a:t>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EF227-C8CD-44BB-BF44-F4A6090664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01E82-B3C6-4F73-A848-1D48C53066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3DB60-A955-4210-99E5-369C1E2CF0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B18B3BD-ACCF-4E65-B2D0-ADF9FE883D27}" type="slidenum">
              <a:t>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FF817-E3A1-47BB-8AC9-08400E4D50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25A1F-165A-4316-87AC-548172C239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84C51-1D60-4D42-A677-54CBC3578B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7C0D9C0-87E6-4AAC-8FB2-37D830845B1C}" type="slidenum">
              <a:t>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BD236-DDA1-4852-BEB7-54C91B5A539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87E32-CEE3-46A6-94FC-D5F3CB7982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C0364-CACC-430C-90F8-9873059A267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4CE0927-B663-458E-8A00-56FC37F8EE1D}" type="slidenum">
              <a:t>10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33DEF-9296-42E8-AF95-A2FBE4724C1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EC523-E33F-4224-BDE2-FFD60AD6E9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6219C-7B80-4A73-AF89-561F44B3AF4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5FB3412-0BF4-4ECB-B35E-29581061EE4D}" type="slidenum">
              <a:t>11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ED209-0D41-42A7-B110-3EAF17E9820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98996-9B2F-4C0D-81B0-944AFF2B88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88AC8-1967-4767-AF08-30A3B4575F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A4EFD04-BE91-426B-B710-834EA8C336CE}" type="slidenum">
              <a:t>12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00908-3B4F-4A92-844B-3719BCFA42E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0BA1C-F83F-440A-BD74-599EF69BE7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51408-FCF9-4053-90DD-27AB4FCCE5E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04873B8-FFDE-451B-9A00-0B71F4D67957}" type="slidenum">
              <a:t>13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ED283-29BD-4776-B2D2-AB0B899AB70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25908-4112-43BB-BAA6-939CD20138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EA7DC-E758-4A82-A107-51BD3D6251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BC8ACC3-81B0-4ADF-A21E-01FA2BBEC35C}" type="slidenum">
              <a:t>14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B30CA-4047-4EA7-B249-41856A0192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46F45-2554-45BA-BA8E-09FB149F8EE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22698-EB0A-4877-9636-8E50E758CE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42B2FC4-767D-4B23-A1C7-AADD5466E8C5}" type="slidenum">
              <a:t>15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7B262-CA20-4B48-8297-71E4130BFD6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91DE6-0E41-46A9-94D8-B5665DE9CF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04006-3F55-465F-9322-FCC56043968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CD5AAD0-B73F-4758-B05A-16C207C48B96}" type="slidenum">
              <a:t>16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F23DD-99B4-48F6-8112-2CD8412F6E9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40559-6D0C-4A70-BD3F-3E20BB75B6A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494D1-0EF5-4687-A13A-6328E8C8A63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7FCFFA6-5228-4B6A-BA16-4747AAAC92CF}" type="slidenum">
              <a:t>17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2AA6F-8CFB-4CCE-A5A3-8331072370D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3A09F-95C2-4659-9CBC-19E5B69A67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7255D-6DC0-40AA-A3A5-9DEB06D2E8B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9212CAA-1F71-446B-9D3B-3CEDFC092319}" type="slidenum">
              <a:t>18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C0067-9168-46CD-BB4A-034B002452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873CF-2BB0-4896-97AA-5C53814325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FA65F-21B3-48D1-8D9F-3A6384711FF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F0F4860-4FAB-4856-9EFF-F3389572CDA3}" type="slidenum">
              <a:t>19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E9265-208C-473A-8E33-1A866C0D9BD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AC7CE-1ECC-4177-B2C9-FD334A1968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F05F4-3BBB-4F8F-8F2D-8F2E07D887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63EDCAE-A1F9-47C7-80F7-431684469BA4}" type="slidenum">
              <a:t>20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2000E-8CFE-4AC4-9BEE-24598AE478B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6CCEE-D4A2-4151-9EB2-3D6963B59F4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7E501-C910-408E-BDEC-89109CC80B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4BBF2C2-A57D-4BF8-AB87-3C0C24A1C502}" type="slidenum">
              <a:t>21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E78F4-A9F2-457C-858C-94D4575AB16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7849F-10F2-43FD-93E7-71492FF9E8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1B11-278B-4294-B699-9BC046724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62CCA-71AC-4183-BCBC-C54AA8FEB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4F05-F2CC-45C7-9BBB-C214B3DA6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12933-1527-47AB-B8A1-90FCBEE0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6D8A3-49A5-4382-BD95-5055F177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A19378-DBA3-4F89-8DF3-09F32DB8660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8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5609-02D4-4CE0-AC09-D120C69E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445B4-E415-4517-94F8-56DE50AB2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1DFF9-5297-4E2F-AC65-0FA9E250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668ED-76C0-41E7-B8CB-189F1501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89E0E-4C05-4632-B194-CDAA6DC7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A41C23-FBA4-4ACD-A840-083DCCD23C4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28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40FD-E465-4613-907B-6230EABB0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11EC6-17C1-4613-A09A-C7A13EB8A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7F1AB-05D6-4F9E-B472-FAD0CB029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CD1E-EE05-46D3-991B-9F941127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8E1B9-95DC-47F5-B2B1-61B1EFA0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A9C282-0A58-47B6-97ED-55BC017D2F5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6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3C69-93E9-4A07-8D03-98C43FED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25D14-3722-4887-B560-E3EEE0CAF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376488"/>
            <a:ext cx="4459287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13462-CB2E-4387-8F94-FD9D360C2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376488"/>
            <a:ext cx="4460875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7B97F-F997-4C11-9A83-A51E861D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71013-0780-4B1E-BB9A-71D3BA13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28578-9139-4F78-9C5E-FCAEFCE2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FC380F-D69B-4440-876B-2524E2C45A3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86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F036-CB61-4DA5-9D11-3C42E790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67441-E0A3-49D0-8BA7-C4444DEBA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39894-9293-4F6F-9C2F-9F3B7F6B2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B5DA0-4E31-4661-AFE2-55D1B514B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450B5A-8D7B-4FB0-89E0-02DC57E37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85B52E-FC9A-4207-8EC2-BD03BD163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F84B2-C344-4B4E-8960-A9396388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0183C-CB6C-4606-90FD-F8FA491D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3A3CDA-FFA1-4E35-A944-14E06E48587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18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F561C-FFC8-47C1-8FEC-7AEE92B3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74B9D-6E52-4692-9A7C-3DCAF272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4BB72-AE50-4B33-9E1F-B4EAD020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7FC9B-AD09-40C6-9469-7F49E112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1FB0F9-7E59-4A7F-ADE4-712D9EB2157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25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3B119A-ED5B-4FF2-A9B6-6D409396C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5C79F4-CC98-48A2-AEE4-D8CA3A25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D5454-5598-4E6D-BE9C-E9293FFD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7675C2-B24E-4E3F-BC5D-635ED6B9CB6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40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F19F-DF32-4F1B-BD88-B6DB356A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7243-65B2-445D-9421-1607ADC68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7CDEF-0EDD-4454-83C5-05A2FE3E7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F78AF-D4BC-4129-A9DF-DEAE0577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A23CF-9A44-4396-8768-1B8B8A4F2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82C51-D195-4E5E-A8C8-AA7C06250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C4BDB04-ABCC-493D-929C-E864E0F995D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52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DFEA-B656-4486-B0F8-61D601F2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4C29A-1066-4CA6-8830-97CFCE9DC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445FF-533A-436D-BFFD-07E382A68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517D2-F169-462B-9569-45347BF7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12070-D95A-483C-99D2-16DBA1404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0473F-612C-4223-970B-2D61A230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B3719A-C1B7-4F08-983E-670E2F9216A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15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0CD3-E230-4C9F-B64B-0C8AD7BE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44669-52CA-4D55-84C0-C58EFDE22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0536A-491A-4D66-8995-B3434CC37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14C59-0396-4BB5-9A75-82A009F24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0083C-374E-466E-BA2A-095778F2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31ADFB5-4015-45B0-9A92-C8BDC458EB8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07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67D422-ABAD-4CEB-9799-036C9B36C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809625"/>
            <a:ext cx="2266950" cy="4319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0F615-72F2-4FA4-BC14-5C44F2882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809625"/>
            <a:ext cx="6653212" cy="4319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AA964-3192-47E8-8DE9-8CEC02FF3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FD3FB-B3B7-4796-945F-C55E75108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CD4B0-22FB-4CBF-AC14-A683E7D9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5CC075-EB1F-4BB9-AE27-70F20438481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409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48276-025D-42F8-B493-8C59A9E18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1139A-9F7F-43B9-83EF-25E820B10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E3B98-E300-46EA-9D95-1D8AD353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78C7D-5026-4225-8F5A-C0420F2C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5E91B-9C46-4AF8-8F9A-0971B7E4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DFA669-C192-4E9B-BA07-5ED1E179A5C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05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7D0A-DE36-406E-AB00-2DF4C878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BC88-F808-4182-ACC9-D7A79549B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D3E8A-13AC-4623-89C7-939F7219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1F39-DBDB-45E6-AD74-7B95C5CD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F4BD5-E030-45B1-82E3-D75E838A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D800B3-7140-4204-8D96-D9F70C85091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842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6E7F-7043-436A-A987-CE935381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464F0-7F22-4E74-883E-E7E1F6256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BAC77-E4B5-484D-A93E-6C197E8F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B4D92-FBEC-4FA2-B85E-679A2D31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1BEA9-5AE4-43D9-98AA-3968655C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E16843-6C48-49DE-80C1-3370D065B6A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006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2D3E-1B7C-4D96-9079-F8B0E7D9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AFAD-F74D-4310-A9DC-08732AE4D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9BE01-A963-4E6B-96B3-1A431E601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FB049-6B54-4E74-B446-096F8109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67EE2-2C7D-4F07-A4B3-D58A3565C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3C947-F5A2-4B41-8C33-DEDDEAE9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5E5493-DDE5-4A2A-A654-6E2B806B16F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36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2FCA-949E-46DD-A46E-B797272A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8181-C97B-40EF-BFD8-761639784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9DA44-EAD2-4057-9C2B-25D0F2C59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C37DA8-FFCC-4C01-A7FB-68CF9DDB5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1107E-1DB7-40BA-A2E1-3E7A4B1A4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70C86-B334-4220-A46A-80A12E37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11221-A52B-4684-8892-D04D09C8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D29F7-CAC5-48A6-B603-6420A746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17A2D28-02EB-4E73-B06B-16B1A16E1B8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272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571D-17D0-4561-8C03-F71E68D2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484A3-2562-45DF-85EC-680F12F76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EB5EA-9A29-4FA1-A5CA-159FB1BF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FC1F7-FE34-4FD2-BB10-899BEE10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9FFE626-CE02-4725-9CF9-86B97B3E82A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3565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54555-8ED9-403D-A6AA-85865F51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F8AED-7C6E-4524-8F6B-05743F6C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E64BF-1502-4F18-9D80-4647C428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0E7567-D5B8-46BC-AB1E-A5980524976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44120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51C4-E415-4626-B836-1279CC15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4A8A8-34AB-484B-8F43-9C13497A5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8016C-A2BC-4439-91DF-E541B38D5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775A0-FF5B-46C7-B919-7EEBBAC5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29BA6-178F-48BA-ACA1-C47B67C2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B64A7-50FC-4601-BBBE-97CBF3BC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E6E276-CCDE-4DA8-AFD4-F1B8923580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443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99FF-7E00-4920-83BF-702DFCCD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57C57F-E4D8-4B7A-8B95-E752A848B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EA533-E8C8-4802-AB99-2EFCF0955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F68B1-821D-43D0-847B-AB36ED22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D5255-9345-4CBD-A662-40C03662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AF846-BE72-4C8C-BFBB-4BC07D66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7275D13-C469-49DF-8AC9-8F52719D9FB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524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4713-0A79-4185-9305-D1F353C3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3DC55-2E55-4070-B6D0-8DBF60F32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D7CBB-5A4F-47B8-BFE1-117401C9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1DBEC-0009-49B1-ACF7-D62A5384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0B9D0-4A49-4A1A-ADAC-5CDAEB70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5972F7C-2CB7-43BE-9DD6-3BD80D04E66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3901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24913C-A540-4CDC-AE31-2BD660B14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F82DA-2040-4386-A45E-46DE6538B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D2408-673D-48AE-BDE0-35B1D66B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A6F6-07EA-431B-B372-BBBD7976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8FD19-6742-440A-8209-790B6021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DBDCA9-EDA2-4C2F-AC88-66EDF03C3A5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3518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7CFD-C471-4109-876A-F29792C1F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0ED45-6E46-4115-8AD6-A57F81BCF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B956B-84F0-49D1-8541-D234584E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8944E-CA37-4FA3-B1F6-DCDBD473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52A8B-93FC-455A-8145-BABB1164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2EA434-F928-40D9-9E1A-6EEB120CE4B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1408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6F2B-8E1C-4383-9C72-27542BC4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64A6-8C59-4796-A4E7-D718507B7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F4DF3-FE7C-4746-9D61-E2510B5A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063AE-0CC7-46A8-A608-E12225D7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48B2E-D259-4108-BAA0-36F2AE27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A9D13F-3A09-46F5-93A1-80894B41265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1877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1A01-A041-49EA-A7DD-D5C525E4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4B10-5709-4E52-B369-1263AC62B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50C2B-C38E-4DE0-B81E-17029B02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F60D9-A906-4FD1-8B30-B346B23C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34F28-542B-4EF9-9614-121E136B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ACA8C0-53A9-4DFF-93E6-1413C265CD1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2640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752D-3760-4F8A-B1BF-9C1C7E34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7FBF1-DA1D-40B4-9B25-3906B6AE4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376488"/>
            <a:ext cx="4459287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0F901-8C98-4CD0-8595-7B59A4A70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376488"/>
            <a:ext cx="4460875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E43C4-50FA-4ED1-9D07-D2266716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24A86-6517-4321-8538-6DF0446D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33FEA-DB31-43A1-A927-A5ECCA62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0FE2423-012A-499C-BC66-365499FBA5C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4475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BAC6-DAED-4527-AD8F-677616A0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FB0C7-8433-4E20-ADCB-ADFC7C386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BDB82-3199-45E1-8F94-EE1DF900A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17618-DBDC-4C55-9005-E2290B05B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F87A8-06FE-499A-AB29-3667F2518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AF4FE-6C91-4348-87B0-EEA66F5C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827C5-0344-47FA-BBE1-7DC2EB6D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BDDE9-0FC0-415A-BC1B-C2AFDAF1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36FE5C-20D1-480F-93EB-FC8F9C0E249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291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579C-D3F6-49B1-87F3-F4126B00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95AD2-C618-4753-AF81-10007C52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F1B42-D4E2-42E8-B549-04E9949C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B77DF-BBB2-49A3-A3B9-2CA67D0A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46960D-6CC8-4DBE-8D24-2D99CC0C819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8218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D3A5F-B45A-466B-A4DD-AF4BB059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37E33-9F3A-42F6-BAB1-03D071DB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23E59-F7BE-44E2-B0FF-BF8A3AB6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9C0C347-9E96-4308-BC12-21E1CFD912F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499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43D6-ED58-4561-B553-EFE224E6E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2F047-B698-46BB-B221-6CA6AC727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80EE0-DBC1-43EA-94CA-509985662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F9F19-F9BD-4C42-8214-1A3C3475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23339-506A-4FED-9DB6-AF03F8F5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00704-113C-41A9-A5C7-ACB48F25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54A500-2D4E-4B54-961B-F377B56DE55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1653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7D53-13BF-4198-AB69-DA5E2179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C6910-FD66-4A5C-9883-C37C250F7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70253-55B5-4CB8-97F1-BC45A51AF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3ECA1-D066-4B01-885F-B121C0FB4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A1F9A-128C-428B-85C7-AEFBCAA3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EAE91-1F0E-44DF-BBF9-62EC0617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20D811D-4CF9-4F18-940B-BB485B0B8DF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1000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E828-6FC2-4E88-95C5-F035D6A0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D674C-30F3-41FA-AA78-B7CEB179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D4077-277D-45C5-B17C-A8088CB6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90F9-314E-47A7-B6AE-75920251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F28C6-AE64-4DD4-A7A7-A145B2E3F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CA4ABA-2D99-4B36-B8E2-2FC1620402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618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471D9F-3447-4129-86BD-48E805E53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809625"/>
            <a:ext cx="2266950" cy="4319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5A493-BFF9-4722-B0FC-24B93DF8A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809625"/>
            <a:ext cx="6653212" cy="4319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7216D-79FD-4915-8041-54280549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3A877-F792-4A6D-B4D5-6F8EB765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D5B88-9D22-482D-B756-44CD8C30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51AB8F-1A00-4BA7-93BF-7DD6740FDC3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8599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35947-D4BC-4BBC-BFB9-4E7C61460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0BA7E-BF25-4947-9ED2-2E8A849D5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4714D-CC8D-4C8B-A7C2-9F3E9AA5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CBBF-8C9B-424A-8DD5-2A9C3F201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2F698-8BDF-4C19-B7D1-F68B1DF8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96BCA97-E0BA-4344-8382-F03807DD67A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4138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60D96-76B4-4830-AFB0-4AA021B9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B6D7D-BC20-427F-ADF0-7480E804E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F6EB-29B5-4F0B-B368-06E0E9E2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1E839-4B09-4B37-8C83-D5DC5FB2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94684-BFB0-4A3F-9424-B31F25F1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705963-08EF-4992-B88C-A52F7083D9A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0993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114C-9F70-421C-8CD2-D794B70F3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B8EAD-934A-433D-B52F-8688219F7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633F8-446A-4A05-9B6D-866C197A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43C6-D31A-45A6-A717-88127634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DBE40-41DB-4030-AAF7-414B8C31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0479B8C-90EF-4D39-8AAB-D6CF070AD22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6566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2069-ED2B-43C5-972C-D1DFB692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18547-E209-48D2-AB60-E65077C01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0B3CF-0F8A-41B3-9320-A0B449D87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CE228-BA65-4BC2-9B37-E2313C35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23A8B-2395-421D-9A44-24C16E53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6C637-8C03-4299-8A18-DD8B2791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F7C610-5950-4736-9285-1ED48453ADC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4566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CE20-C4A3-4B8A-A8B9-90467E85F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72124-C2E5-44A1-9EAA-1BED0513D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C7020-BCCD-44C2-A747-285E6CE1B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FA9DAF-EA0C-4D0E-BF40-17FEE8AE3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F87C7-6187-4335-AE64-CE60CBD81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45887-6475-4870-BEE8-31F0F0D1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1E6B9-A491-450F-9F67-825F69AD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CADDF2-13C3-45F2-826C-86AD6D8B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039B89-52A3-4144-B981-3E08D4042C8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0879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C959-6F45-4A3A-A0AA-AD42BC619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254800-68EC-43C3-A1DE-4FF03B5E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B7825-5440-47DD-BE97-7887AA8F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E2D2F-A80B-4659-B78F-F2DE3FD9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3A1E03-A169-48C1-8ECB-C426AC3A8DF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2514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CCB4B4-84D3-4C9E-A26E-B87242D6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643B8-7AA9-49FD-A2D3-80D3DBE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C407A-1F63-4947-B364-D47D207A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DD8FE7-B51F-42FE-8849-CFB311DA0F3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937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A86B-E41F-40E5-946E-3A9EA4B1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81D0-0220-43E6-931F-89B812AE1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F7E2D-960D-4E2A-95A1-C54DD33B8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E167E-FF75-42AA-BBDC-183613D7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1044D-2B3E-4CBD-8376-BDFE48A6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6A72E-8209-461A-9415-7AE84468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FED122-EBB7-47A3-8805-5910E1E065E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62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0815-5A90-46F7-9075-D499B34D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1DF151-1287-4A77-82E7-DCB409CC05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4F61F-B588-45AB-93A8-45B684760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C097E-E07B-49F6-8441-60853370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A477B-49F9-4DD7-A22B-4255921E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48115-FAF0-4675-8450-BC743A52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C93FF0E-5C98-417E-A738-8508B16EC91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2051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F692-AB8C-4A8A-BD38-D20052C0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076DC-4FA1-4F26-B673-D3CBE6C7E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8E88D-8917-4634-8E3C-39F4530B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1C115-E051-4345-B848-66C8953C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7EE2F-4082-47DC-9631-E1AB3880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DC38D3-9FCD-402C-9BFB-46675F50F9B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6839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31E64-E805-4CFE-A9B9-C66FF8AF4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EB4D4-5DE0-4FFB-B63F-9E2E5009D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83C09-83AA-4181-9536-420AA58B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CBC52-438E-4FBF-8258-D941BE7C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2830A-7453-487F-A2DB-4A762F24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E4FF5A1-022F-48DA-A40D-DB393830AB4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15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34505-BD8B-4D00-A799-2DDC5E6E6E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810000"/>
            <a:ext cx="9071640" cy="12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233E4-7A43-43CA-BF27-2CE0826835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376000"/>
            <a:ext cx="9071640" cy="27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97A36-A144-4142-9416-063D6DBF841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26827-D070-4F37-B506-312CE798195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BBA4E-DFC9-4D6E-AB7B-9794C69799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742F679B-F34B-47CC-9C87-F9DFD2219461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15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F173F-8741-4BA4-BF12-FCFD0F2391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5720"/>
            <a:ext cx="9071640" cy="94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846C9-A97D-4EBC-A034-66A0095D9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87F54-306C-468C-9EB7-71C393EDF3F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8245F-06F5-42DC-A8DD-72AD7E3451A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EE5B7-A58A-4014-A6FD-3F4E0F96E7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C6C19DAC-A08F-4D34-84A0-94A5C338795D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hangingPunct="0">
        <a:tabLst/>
        <a:defRPr lang="en-GB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rtl="0" hangingPunct="0">
        <a:spcBef>
          <a:spcPts val="1060"/>
        </a:spcBef>
        <a:spcAft>
          <a:spcPts val="0"/>
        </a:spcAft>
        <a:tabLst/>
        <a:defRPr lang="en-GB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3D18D-2F9D-436F-8B45-45CBFD3700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810000"/>
            <a:ext cx="9071640" cy="12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E097-382A-404E-9498-E9096E1D1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376000"/>
            <a:ext cx="9071640" cy="27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CC3F2-8F49-4E71-836F-198222FD662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587E1-4C91-4FB9-8B0D-5C58E97408C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C1860-76A7-4194-801D-A579FAFC22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617D410A-31E5-41A9-BB50-6AD26179EF84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en-GB" sz="315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75EB9-DF40-4605-8410-7570F78DAA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5720"/>
            <a:ext cx="9071640" cy="94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CA61E-19B4-4C15-9AC0-1EA82DE15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114B4-DC03-4946-A90E-2F25773BB3C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46318-9CDC-47A6-AF85-1718646EBD6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9B897-4D97-4ED0-90A5-4C0EF5AF63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175A3E59-BC03-469C-9E99-416DB12236F9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hangingPunct="0">
        <a:tabLst/>
        <a:defRPr lang="en-GB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rtl="0" hangingPunct="0">
        <a:spcBef>
          <a:spcPts val="1060"/>
        </a:spcBef>
        <a:spcAft>
          <a:spcPts val="0"/>
        </a:spcAft>
        <a:tabLst/>
        <a:defRPr lang="en-GB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E11E-C152-46FE-B962-64F920A226D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780892"/>
            <a:ext cx="9071640" cy="1354217"/>
          </a:xfrm>
        </p:spPr>
        <p:txBody>
          <a:bodyPr vert="horz">
            <a:spAutoFit/>
          </a:bodyPr>
          <a:lstStyle/>
          <a:p>
            <a:pPr lvl="0"/>
            <a:r>
              <a:rPr lang="en-GB" dirty="0"/>
              <a:t>CT7201 </a:t>
            </a:r>
            <a:r>
              <a:rPr lang="en-GB" sz="4400" b="0" strike="noStrike" spc="-1" dirty="0">
                <a:solidFill>
                  <a:srgbClr val="FFFFFF"/>
                </a:solidFill>
                <a:latin typeface="Arial"/>
              </a:rPr>
              <a:t>Python Notebooks and Scripting</a:t>
            </a:r>
            <a:endParaRPr lang="en-GB" dirty="0">
              <a:cs typeface="Noto Sans" pitchFamily="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B32E3-D914-4110-A064-81B2CABBB3E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/>
          <a:p>
            <a:pPr lvl="0" algn="ctr"/>
            <a:endParaRPr lang="en-GB" sz="2400" dirty="0">
              <a:cs typeface="Noto Sans" pitchFamily="2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022A84-F4DE-42CB-BBC4-828689A890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44000" y="5212800"/>
            <a:ext cx="4716000" cy="457200"/>
          </a:xfrm>
        </p:spPr>
        <p:txBody>
          <a:bodyPr vert="horz"/>
          <a:lstStyle/>
          <a:p>
            <a:pPr lvl="0"/>
            <a:r>
              <a:rPr lang="en-US" sz="600">
                <a:cs typeface="Noto Sans" pitchFamily="2"/>
              </a:rPr>
              <a:t>This work is licensed under a Creative Commons Attribution-ShareAlike 3.0 Unported License.</a:t>
            </a:r>
            <a:br>
              <a:rPr lang="en-US" sz="600">
                <a:cs typeface="Noto Sans" pitchFamily="2"/>
              </a:rPr>
            </a:br>
            <a:r>
              <a:rPr lang="en-US" sz="600">
                <a:cs typeface="Noto Sans" pitchFamily="2"/>
              </a:rPr>
              <a:t>It makes use of the works of Mateus Machado Luna.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858F-0A80-46E9-A25A-FDF361DC91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In this session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751E0-3ED1-49B1-9266-44021BC780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8495640" cy="3288239"/>
          </a:xfrm>
        </p:spPr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endParaRPr lang="en-GB" dirty="0">
              <a:cs typeface="Noto Sans" pitchFamily="2"/>
            </a:endParaRPr>
          </a:p>
          <a:p>
            <a:pPr lvl="0">
              <a:buSzPct val="45000"/>
              <a:buFont typeface="StarSymbol"/>
              <a:buChar char="●"/>
            </a:pPr>
            <a:endParaRPr lang="en-GB" dirty="0">
              <a:cs typeface="Noto 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97B3D-2872-45E8-901D-C535BBF6E545}"/>
              </a:ext>
            </a:extLst>
          </p:cNvPr>
          <p:cNvSpPr txBox="1"/>
          <p:nvPr/>
        </p:nvSpPr>
        <p:spPr>
          <a:xfrm>
            <a:off x="824593" y="1477736"/>
            <a:ext cx="627017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Handling Categorical attributes</a:t>
            </a:r>
          </a:p>
          <a:p>
            <a:r>
              <a:rPr lang="en-US" sz="2400" dirty="0"/>
              <a:t>	Ordinal encoder</a:t>
            </a:r>
          </a:p>
          <a:p>
            <a:r>
              <a:rPr lang="en-US" sz="2400" dirty="0"/>
              <a:t>	One-Hot encoder</a:t>
            </a:r>
          </a:p>
          <a:p>
            <a:r>
              <a:rPr lang="en-US" sz="2400" dirty="0"/>
              <a:t>	Embeddings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Transformer Classes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 Scaling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Pipelines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7D97-E615-410A-B182-A16B28404A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Handling Categorical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0E7E-FF84-4A8A-B7F8-38566A859FE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625" y="1685829"/>
            <a:ext cx="4535280" cy="3288239"/>
          </a:xfrm>
        </p:spPr>
        <p:txBody>
          <a:bodyPr vert="horz">
            <a:norm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In the dataset used, </a:t>
            </a:r>
            <a:r>
              <a:rPr lang="en-GB" dirty="0" err="1">
                <a:cs typeface="Noto Sans" pitchFamily="2"/>
              </a:rPr>
              <a:t>ocean_proximity</a:t>
            </a:r>
            <a:r>
              <a:rPr lang="en-GB" dirty="0">
                <a:cs typeface="Noto Sans" pitchFamily="2"/>
              </a:rPr>
              <a:t> attribute is  categorical.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For the purpose of analysis, you can code categories to a range of possible values, representing particular categories.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9587C-0DE5-49CC-946B-8D3AAC9D457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608080" y="1800000"/>
            <a:ext cx="3751920" cy="232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AE37-B67B-42F6-83CA-6F4CAC1D31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Handling Categorical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68557-4615-4F81-814C-095B749B7CC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72783" y="1644838"/>
            <a:ext cx="4535280" cy="3288239"/>
          </a:xfrm>
        </p:spPr>
        <p:txBody>
          <a:bodyPr vert="horz">
            <a:norm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We can therefore use the “</a:t>
            </a:r>
            <a:r>
              <a:rPr lang="en-GB" dirty="0" err="1">
                <a:cs typeface="Noto Sans" pitchFamily="2"/>
              </a:rPr>
              <a:t>OrdinalEncoder</a:t>
            </a:r>
            <a:r>
              <a:rPr lang="en-GB" dirty="0">
                <a:cs typeface="Noto Sans" pitchFamily="2"/>
              </a:rPr>
              <a:t>” class in scikit-learn which will give is an encoding of these categories into numbers.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Can anyone remember why we wouldn’t want to use this encoding?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4DF4F-30F9-40FD-BA50-AFE5E36D193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28164" y="1690007"/>
            <a:ext cx="4379899" cy="69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C37DFE-EC79-4A3A-8E89-1E40B469618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228164" y="2296078"/>
            <a:ext cx="4500000" cy="198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CB2D-B75D-43A3-A850-CA0810313F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Handling Categorical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175CA-4D54-477D-92C6-E3EE60FE4A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9215280" cy="3288239"/>
          </a:xfrm>
        </p:spPr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A machine learning model will make incorrect assumptions about the categories, based on the numbers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i.e. that category 0 and 4 are more distinct than 0 and 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This is not necessarily true, in fact if we bring up the categories as in the code below, we can see that 0 and 4 are probably a lot more related than 0 and 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4AC2F-D80F-485A-AE0A-A46952AA06E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40000" y="4140000"/>
            <a:ext cx="5056560" cy="570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9B258-ECF6-4E94-BD78-BDDA1F2F5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94" y="351606"/>
            <a:ext cx="6873836" cy="21185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7DE483-E41A-4D92-9F8B-9DEF7669BBB0}"/>
              </a:ext>
            </a:extLst>
          </p:cNvPr>
          <p:cNvSpPr txBox="1"/>
          <p:nvPr/>
        </p:nvSpPr>
        <p:spPr>
          <a:xfrm>
            <a:off x="881743" y="2470150"/>
            <a:ext cx="85561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The days are labeled in the order of their appearance in the data.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The major problems here are:-</a:t>
            </a:r>
          </a:p>
          <a:p>
            <a:pPr lvl="1">
              <a:buFont typeface="+mj-lt"/>
              <a:buAutoNum type="arabicPeriod"/>
            </a:pPr>
            <a:r>
              <a:rPr lang="en-US" sz="2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 Natural ordering is lost</a:t>
            </a:r>
          </a:p>
          <a:p>
            <a:pPr lvl="1">
              <a:buFont typeface="+mj-lt"/>
              <a:buAutoNum type="arabicPeriod"/>
            </a:pPr>
            <a:r>
              <a:rPr lang="en-US" sz="2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 Common relationships between categories are not captured. (For example, Saturday and Sunday together make a weekend and hence should be closer to each other)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7459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2E5D-54D6-4808-9A84-F73D34C6D5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One-Hot Encoding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9DF0E-2B2E-4EA9-84F5-476FFC3783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9215280" cy="3288239"/>
          </a:xfrm>
        </p:spPr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en-GB">
                <a:cs typeface="Noto Sans" pitchFamily="2"/>
              </a:rPr>
              <a:t>A common solution you’ve seen before is to use one-hot encoding, i.e. a set of binary (0, 1) attributes representing each category separately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>
                <a:cs typeface="Noto Sans" pitchFamily="2"/>
              </a:rPr>
              <a:t>Scikit Learn has a one hot encoder class, which makes this easy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5B7AD-ED02-4AA7-8249-6A581A26659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14960" y="3074040"/>
            <a:ext cx="4685040" cy="106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796F6B-2DAF-44B3-B5C4-D8627C55857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20000" y="2880000"/>
            <a:ext cx="2628000" cy="1618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15B96A-C237-4370-8BE9-4B16917089E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900000" y="4508164"/>
            <a:ext cx="5180400" cy="70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8EC1-5FB3-4859-9865-6C757D82E8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Memory Efficiency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E84F1-7962-4BAB-A196-1AC0CE075A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1"/>
            <a:ext cx="8957688" cy="3710764"/>
          </a:xfrm>
        </p:spPr>
        <p:txBody>
          <a:bodyPr vert="horz">
            <a:normAutofit fontScale="77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We don’t spend a lot of time worrying about memory efficiency in python – generally speaking the python way ™ is to assume that it’s a lot cheaper to add another stick of memory than to pay a programmer to spend a long time working around memory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However, it’s clear that this approach has the potential to waste a lot of memory, particularly with attributes that have many categories, storing a lot of zeros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The output from this function, is actually a SciPy “sparse matrix” which means that it only really stores the non-zero elements, and assumes everything else is a zero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If you want to use it in a way which isn’t supported by this datatype, you may need to call .</a:t>
            </a:r>
            <a:r>
              <a:rPr lang="en-GB" dirty="0" err="1">
                <a:cs typeface="Noto Sans" pitchFamily="2"/>
              </a:rPr>
              <a:t>toarray</a:t>
            </a:r>
            <a:r>
              <a:rPr lang="en-GB" dirty="0">
                <a:cs typeface="Noto Sans" pitchFamily="2"/>
              </a:rPr>
              <a:t>() which will give you a standard </a:t>
            </a:r>
            <a:r>
              <a:rPr lang="en-GB" dirty="0" err="1">
                <a:cs typeface="Noto Sans" pitchFamily="2"/>
              </a:rPr>
              <a:t>numpy</a:t>
            </a:r>
            <a:r>
              <a:rPr lang="en-GB" dirty="0">
                <a:cs typeface="Noto Sans" pitchFamily="2"/>
              </a:rPr>
              <a:t> array – at the expense of using a lot more memory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Hence the python text about sparse compression, and the </a:t>
            </a:r>
            <a:r>
              <a:rPr lang="en-GB" dirty="0" err="1">
                <a:cs typeface="Noto Sans" pitchFamily="2"/>
              </a:rPr>
              <a:t>toarray</a:t>
            </a:r>
            <a:r>
              <a:rPr lang="en-GB" dirty="0">
                <a:cs typeface="Noto Sans" pitchFamily="2"/>
              </a:rPr>
              <a:t> in the display of the encoding, on the previous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C2FCE-5328-49D1-8244-7BFD948E29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Embeddings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B9B9-2A9D-447E-A830-1EE604F668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70034" y="1579693"/>
            <a:ext cx="9215280" cy="3288239"/>
          </a:xfrm>
        </p:spPr>
        <p:txBody>
          <a:bodyPr vert="horz">
            <a:norm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When we’re using deep learning, we can use an alternate approach called Embedding.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This allows us to map our categories onto a feature space, which we then use to represent the similarities between them.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>
                <a:cs typeface="Noto Sans" pitchFamily="2"/>
              </a:rPr>
              <a:t>An embedding is a vector representation of a categorical variable.</a:t>
            </a:r>
          </a:p>
          <a:p>
            <a:pPr lvl="0">
              <a:buSzPct val="45000"/>
            </a:pPr>
            <a:endParaRPr lang="en-GB" dirty="0">
              <a:cs typeface="Noto Sans" pitchFamily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23C6-DBB8-40C7-95C8-7B9FFA9CB88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Embeddings</a:t>
            </a:r>
          </a:p>
        </p:txBody>
      </p:sp>
      <p:pic>
        <p:nvPicPr>
          <p:cNvPr id="1026" name="Picture 2" descr="Enhancing categorical features with Entity Embeddings | by Rodrigo Bressan  | Towards Data Science">
            <a:extLst>
              <a:ext uri="{FF2B5EF4-FFF2-40B4-BE49-F238E27FC236}">
                <a16:creationId xmlns:a16="http://schemas.microsoft.com/office/drawing/2014/main" id="{1A1DC8C9-A7A2-486B-A485-7CAF629D7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684" y="434975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0130B4-51DB-4C19-93F7-0D53D35C7A2C}"/>
              </a:ext>
            </a:extLst>
          </p:cNvPr>
          <p:cNvSpPr txBox="1"/>
          <p:nvPr/>
        </p:nvSpPr>
        <p:spPr>
          <a:xfrm>
            <a:off x="6825343" y="1845129"/>
            <a:ext cx="205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may be not the ideal embedding for the given categories, but you can get the idea from the figure.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C69B-4E50-470E-9F11-DF11BA9E21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09391"/>
            <a:ext cx="9071640" cy="946800"/>
          </a:xfrm>
        </p:spPr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Transformer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F2DE6-7A3A-406B-8A74-F9C555AC437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538871"/>
            <a:ext cx="9215280" cy="3816900"/>
          </a:xfrm>
        </p:spPr>
        <p:txBody>
          <a:bodyPr vert="horz">
            <a:norm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Transformer classes in Python can be used to clean, reduce, expand or generate features.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We can use the Scikit-learn API to develop our own transformer classes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Scikit-learn relies on python duck-typing rather than inheritance, so all we need to do is create a class and implement three methods</a:t>
            </a:r>
          </a:p>
          <a:p>
            <a:pPr marL="457200" lvl="2" indent="0" hangingPunct="0">
              <a:spcBef>
                <a:spcPts val="1060"/>
              </a:spcBef>
              <a:buSzPct val="75000"/>
              <a:buFont typeface="StarSymbol"/>
              <a:buChar char="–"/>
            </a:pPr>
            <a:r>
              <a:rPr lang="en-GB" sz="2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Fit() → self : learns parameters from a training set</a:t>
            </a:r>
          </a:p>
          <a:p>
            <a:pPr marL="457200" lvl="2" indent="0" hangingPunct="0">
              <a:spcBef>
                <a:spcPts val="1060"/>
              </a:spcBef>
              <a:buSzPct val="75000"/>
              <a:buFont typeface="StarSymbol"/>
              <a:buChar char="–"/>
            </a:pPr>
            <a:r>
              <a:rPr lang="en-GB" sz="2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transform() : transform data</a:t>
            </a:r>
          </a:p>
          <a:p>
            <a:pPr marL="457200" lvl="2" indent="0" hangingPunct="0">
              <a:spcBef>
                <a:spcPts val="1060"/>
              </a:spcBef>
              <a:buSzPct val="75000"/>
              <a:buFont typeface="StarSymbol"/>
              <a:buChar char="–"/>
            </a:pPr>
            <a:r>
              <a:rPr lang="en-GB" sz="2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fit_transform</a:t>
            </a:r>
            <a:r>
              <a:rPr lang="en-GB" sz="2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() : Fit to data, then transform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4D4F-A0EA-48F8-A1D4-DCF07F9F18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Transformer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D76FE-F6DB-4989-8ADF-3AA8998573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530707"/>
            <a:ext cx="9215280" cy="3288239"/>
          </a:xfrm>
        </p:spPr>
        <p:txBody>
          <a:bodyPr vert="horz">
            <a:normAutofit fontScale="925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The last method we can get for free by adding the </a:t>
            </a:r>
            <a:r>
              <a:rPr lang="en-GB" dirty="0" err="1">
                <a:cs typeface="Noto Sans" pitchFamily="2"/>
              </a:rPr>
              <a:t>TransformerMixin</a:t>
            </a:r>
            <a:r>
              <a:rPr lang="en-GB" dirty="0">
                <a:cs typeface="Noto Sans" pitchFamily="2"/>
              </a:rPr>
              <a:t> class as a base class – this basically just runs fit and then transform. We can also add a </a:t>
            </a:r>
            <a:r>
              <a:rPr lang="en-GB" dirty="0" err="1">
                <a:cs typeface="Noto Sans" pitchFamily="2"/>
              </a:rPr>
              <a:t>BaseEstimator</a:t>
            </a:r>
            <a:r>
              <a:rPr lang="en-GB" dirty="0">
                <a:cs typeface="Noto Sans" pitchFamily="2"/>
              </a:rPr>
              <a:t> base class, that gives us two extra methods</a:t>
            </a:r>
          </a:p>
          <a:p>
            <a:pPr marL="457200" lvl="2" indent="0" hangingPunct="0">
              <a:spcBef>
                <a:spcPts val="1060"/>
              </a:spcBef>
              <a:buSzPct val="75000"/>
              <a:buFont typeface="StarSymbol"/>
              <a:buChar char="–"/>
            </a:pPr>
            <a:r>
              <a:rPr lang="en-GB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get_params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()</a:t>
            </a:r>
          </a:p>
          <a:p>
            <a:pPr marL="457200" lvl="2" indent="0" hangingPunct="0">
              <a:spcBef>
                <a:spcPts val="1060"/>
              </a:spcBef>
              <a:buSzPct val="75000"/>
              <a:buFont typeface="StarSymbol"/>
              <a:buChar char="–"/>
            </a:pPr>
            <a:r>
              <a:rPr lang="en-GB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set_params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()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These are useful for hyper-parameter tuning automatically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They just return parameters and their default values, and the second one allows parameters to be set via a dictionary.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6F58-F6A8-470B-B9CA-70F9B00B18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Example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E40EF-E60F-4A9B-B43A-0182E767FBD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4355280" cy="3288239"/>
          </a:xfrm>
        </p:spPr>
        <p:txBody>
          <a:bodyPr vert="horz">
            <a:normAutofit fontScale="85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>
                <a:cs typeface="Noto Sans" pitchFamily="2"/>
              </a:rPr>
              <a:t>This class adds the combined attributes that we set up earlier, with general python code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>
                <a:cs typeface="Noto Sans" pitchFamily="2"/>
              </a:rPr>
              <a:t>In this example, we have one hyper-parameter that lets us torn on and off whether we will add the bedrooms per room value – defaulting to true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>
                <a:cs typeface="Noto Sans" pitchFamily="2"/>
              </a:rPr>
              <a:t>Generally speaking any data prep you’re not totally confident of should be gated by a parameter like this – it allows for easy experimentation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395C3-5FD9-4DAC-B98A-1AC2593A09D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938479" y="1440000"/>
            <a:ext cx="4622760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B1C0-8E0F-463D-96F6-0FDEA15281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Feature Scaling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68E86-9D64-4D76-982C-19F34D7742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8855280" cy="3288239"/>
          </a:xfrm>
        </p:spPr>
        <p:txBody>
          <a:bodyPr vert="horz">
            <a:normAutofit fontScale="92500" lnSpcReduction="1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Most machine learning models don’t perform well when all the numerical attributes are at dramatically different scales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i.e. in our data, number of rooms ranges from 6 to 39,320 whereas incomes because of how it’s scaled, runs from 0 to 15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Two common ways to get attributes into the same scale are:</a:t>
            </a:r>
          </a:p>
          <a:p>
            <a:pPr marL="457200" lvl="2" indent="0" hangingPunct="0">
              <a:spcBef>
                <a:spcPts val="1060"/>
              </a:spcBef>
              <a:buSzPct val="75000"/>
              <a:buFont typeface="StarSymbol"/>
              <a:buChar char="–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Min-max scaling</a:t>
            </a:r>
          </a:p>
          <a:p>
            <a:pPr marL="457200" lvl="2" indent="0" hangingPunct="0">
              <a:spcBef>
                <a:spcPts val="1060"/>
              </a:spcBef>
              <a:buSzPct val="75000"/>
              <a:buFont typeface="StarSymbol"/>
              <a:buChar char="–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" pitchFamily="2"/>
              </a:rPr>
              <a:t>Standardisation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It is worth noting that it’s not normally necessary to scale your target values, only your training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EE0E-3B06-4E30-9657-6E3B4F6F56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Min-max Scaling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89067-F82E-4BAA-BB8D-798880F8E37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8855280" cy="3288239"/>
          </a:xfrm>
        </p:spPr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en-GB">
                <a:cs typeface="Noto Sans" pitchFamily="2"/>
              </a:rPr>
              <a:t>Min-max scaling (often called normalisation) is the simplest, values are scaled so they are all in the range 0-1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>
                <a:cs typeface="Noto Sans" pitchFamily="2"/>
              </a:rPr>
              <a:t>We do this by subtracting the minimum value, and dividing by the max minus the min. Scikit-learn provides a transformer class called “MinMaxScaler” for this purpose, with a  “feature_range” hyper parameter that lets you set the range, if you want 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42D863-78E5-465A-A6AC-892D02F9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819" y="4184761"/>
            <a:ext cx="3624944" cy="8601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4765-AEA2-459A-ABBC-A581DC87E9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Standardisation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3F563-F29F-4C77-B98E-1BBED418BB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8855280" cy="3288239"/>
          </a:xfrm>
        </p:spPr>
        <p:txBody>
          <a:bodyPr vert="horz"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Standardisation (often called standardization, because American </a:t>
            </a:r>
            <a:r>
              <a:rPr lang="en-GB" dirty="0" err="1">
                <a:cs typeface="Noto Sans" pitchFamily="2"/>
              </a:rPr>
              <a:t>english</a:t>
            </a:r>
            <a:r>
              <a:rPr lang="en-GB" dirty="0">
                <a:cs typeface="Noto Sans" pitchFamily="2"/>
              </a:rPr>
              <a:t> is insidious) is slightly different.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In standardisation, the mean is subtracted, then we divide by the standard deviation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This means that the result will have unit variance.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Unlike min-max, standardisation doesn’t lock a range, which may be a problem for algorithms which expect a specific range, however it’s less affected by outlier values.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A transformer class called “</a:t>
            </a:r>
            <a:r>
              <a:rPr lang="en-GB" dirty="0" err="1">
                <a:cs typeface="Noto Sans" pitchFamily="2"/>
              </a:rPr>
              <a:t>StandardScaler</a:t>
            </a:r>
            <a:r>
              <a:rPr lang="en-GB" dirty="0">
                <a:cs typeface="Noto Sans" pitchFamily="2"/>
              </a:rPr>
              <a:t>” is available in scikit-learn for standardisation.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DAF65-9230-40EB-959B-AB7C0C948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819" y="4343950"/>
            <a:ext cx="4027431" cy="9833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0E22-9A37-4E3E-849B-6C68B94907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Transformation Pipelines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AC0BA-E2FE-4AD9-B808-E17B71883B1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8855280" cy="3288239"/>
          </a:xfrm>
        </p:spPr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As should be becoming clear, there are lots of data transformation steps that you may be taking when implementing.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This is a small example, but in a real-world task there may be many more you want to do.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Scikit learn provides us with a handy “pipeline” class which can help with these sequences.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21DF-F52D-49D9-95BF-8142514AE2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Transformation Pipeline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AB06B-1C03-4C1E-86CE-933FDA08E6F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4535593" cy="3972021"/>
          </a:xfrm>
        </p:spPr>
        <p:txBody>
          <a:bodyPr vert="horz">
            <a:normAutofit lnSpcReduction="1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1400" dirty="0">
                <a:cs typeface="Noto Sans" pitchFamily="2"/>
              </a:rPr>
              <a:t>The “Pipeline” constructor takes a list of name/estimator pairs (as tuples) which together define a sequence of transformations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1400" dirty="0">
                <a:cs typeface="Noto Sans" pitchFamily="2"/>
              </a:rPr>
              <a:t>All but the last element must be transformer classes (The final estimator only needs to implement fit.)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1400" dirty="0">
                <a:cs typeface="Noto Sans" pitchFamily="2"/>
              </a:rPr>
              <a:t>When you call the pipelines fit function, it will call all of the </a:t>
            </a:r>
            <a:r>
              <a:rPr lang="en-GB" sz="1400" dirty="0" err="1">
                <a:cs typeface="Noto Sans" pitchFamily="2"/>
              </a:rPr>
              <a:t>fit_transform</a:t>
            </a:r>
            <a:r>
              <a:rPr lang="en-GB" sz="1400" dirty="0">
                <a:cs typeface="Noto Sans" pitchFamily="2"/>
              </a:rPr>
              <a:t> functions of the transformers sequentially, using the output of each call as input for the next, until the final estimator, for which it calls “fit”.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1400" dirty="0">
                <a:cs typeface="Noto Sans" pitchFamily="2"/>
              </a:rPr>
              <a:t>The pipeline will have the same methods available as the final </a:t>
            </a:r>
            <a:r>
              <a:rPr lang="en-GB" sz="1400" dirty="0" err="1">
                <a:cs typeface="Noto Sans" pitchFamily="2"/>
              </a:rPr>
              <a:t>estimater</a:t>
            </a:r>
            <a:r>
              <a:rPr lang="en-GB" sz="1400" dirty="0">
                <a:cs typeface="Noto Sans" pitchFamily="2"/>
              </a:rPr>
              <a:t> – in this case because that is a </a:t>
            </a:r>
            <a:r>
              <a:rPr lang="en-GB" sz="1400" dirty="0" err="1">
                <a:cs typeface="Noto Sans" pitchFamily="2"/>
              </a:rPr>
              <a:t>StandardScaler</a:t>
            </a:r>
            <a:r>
              <a:rPr lang="en-GB" sz="1400" dirty="0">
                <a:cs typeface="Noto Sans" pitchFamily="2"/>
              </a:rPr>
              <a:t>, we have transform, and </a:t>
            </a:r>
            <a:r>
              <a:rPr lang="en-GB" sz="1400" dirty="0" err="1">
                <a:cs typeface="Noto Sans" pitchFamily="2"/>
              </a:rPr>
              <a:t>fit_transform</a:t>
            </a:r>
            <a:r>
              <a:rPr lang="en-GB" sz="1400" dirty="0">
                <a:cs typeface="Noto Sans" pitchFamily="2"/>
              </a:rPr>
              <a:t> (which we’ve used)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1400" i="1" dirty="0">
                <a:cs typeface="Noto Sans" pitchFamily="2"/>
              </a:rPr>
              <a:t>As a note, fit transforms the model to fit the data, transform applies the model to the data, </a:t>
            </a:r>
            <a:r>
              <a:rPr lang="en-GB" sz="1400" i="1" dirty="0" err="1">
                <a:cs typeface="Noto Sans" pitchFamily="2"/>
              </a:rPr>
              <a:t>fit_transform</a:t>
            </a:r>
            <a:r>
              <a:rPr lang="en-GB" sz="1400" i="1" dirty="0">
                <a:cs typeface="Noto Sans" pitchFamily="2"/>
              </a:rPr>
              <a:t> does fits the data then apply transform.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357A9-FC07-4FD5-AE84-809F3C5DFF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92919" y="2009160"/>
            <a:ext cx="4447080" cy="1770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87EAA-6361-427A-8480-9F7D7F5FC4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And a Categorical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B3FDD-83E1-400E-B1B5-8BFA99B604C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3455279" cy="3288239"/>
          </a:xfrm>
        </p:spPr>
        <p:txBody>
          <a:bodyPr vert="horz">
            <a:normAutofit fontScale="55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This pipeline is similarly set up, to deal with our categorical data, using </a:t>
            </a:r>
            <a:r>
              <a:rPr lang="en-GB" dirty="0" err="1">
                <a:cs typeface="Noto Sans" pitchFamily="2"/>
              </a:rPr>
              <a:t>ColumnTransformer</a:t>
            </a:r>
            <a:endParaRPr lang="en-GB" dirty="0">
              <a:cs typeface="Noto Sans" pitchFamily="2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GB" dirty="0" err="1">
                <a:cs typeface="Noto Sans" pitchFamily="2"/>
              </a:rPr>
              <a:t>ColumnTransformer</a:t>
            </a:r>
            <a:r>
              <a:rPr lang="en-GB" dirty="0">
                <a:cs typeface="Noto Sans" pitchFamily="2"/>
              </a:rPr>
              <a:t> is very similar to pipeline, but expects a list of tuples with a name, a transformer and a list of names or indices that identify columns the transformer should be applied to.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It’s worth noting that this will return a sparse matrix as we discussed, whereas the </a:t>
            </a:r>
            <a:r>
              <a:rPr lang="en-GB" dirty="0" err="1">
                <a:cs typeface="Noto Sans" pitchFamily="2"/>
              </a:rPr>
              <a:t>num_pipeline</a:t>
            </a:r>
            <a:r>
              <a:rPr lang="en-GB" dirty="0">
                <a:cs typeface="Noto Sans" pitchFamily="2"/>
              </a:rPr>
              <a:t> will return a dense matrix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Where there is a mix like this, the </a:t>
            </a:r>
            <a:r>
              <a:rPr lang="en-GB" dirty="0" err="1">
                <a:cs typeface="Noto Sans" pitchFamily="2"/>
              </a:rPr>
              <a:t>ColumnTransformer</a:t>
            </a:r>
            <a:r>
              <a:rPr lang="en-GB" dirty="0">
                <a:cs typeface="Noto Sans" pitchFamily="2"/>
              </a:rPr>
              <a:t> will estimate the density of the final matrix – and return a sparse matrix if the density is lower than a threshold (by default 0.3), or a dense matrix if the density is higher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7544B-C1E2-4A05-9849-60B41B47DF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00000" y="1800000"/>
            <a:ext cx="4332960" cy="204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B195-7257-4B7B-8735-FD6EF823CE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And that is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6A272-0453-4B9F-B4F3-E62DFAC6FA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719" y="1326600"/>
            <a:ext cx="8675280" cy="3288239"/>
          </a:xfrm>
        </p:spPr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We now have a full pipeline for processing our data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The next step is to apply machine learning models 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cs typeface="Noto Sans" pitchFamily="2"/>
              </a:rPr>
              <a:t>Try using scikit-learn machine learning models and see if you can identify which models are best suited for this data!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04D8-E1A5-4992-9545-F807D6DB98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719" y="2160000"/>
            <a:ext cx="9071640" cy="946800"/>
          </a:xfrm>
        </p:spPr>
        <p:txBody>
          <a:bodyPr vert="horz"/>
          <a:lstStyle/>
          <a:p>
            <a:pPr lvl="0"/>
            <a:r>
              <a:rPr lang="en-GB">
                <a:cs typeface="Noto Sans" pitchFamily="2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 Pla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ueprint Plans-4: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tandard-4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1436</Words>
  <Application>Microsoft Office PowerPoint</Application>
  <PresentationFormat>Custom</PresentationFormat>
  <Paragraphs>113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Liberation Sans</vt:lpstr>
      <vt:lpstr>StarSymbol</vt:lpstr>
      <vt:lpstr>Blueprint Plans</vt:lpstr>
      <vt:lpstr>Standard</vt:lpstr>
      <vt:lpstr>Blueprint Plans-4:3</vt:lpstr>
      <vt:lpstr>Standard-43</vt:lpstr>
      <vt:lpstr>CT7201 Python Notebooks and Scripting</vt:lpstr>
      <vt:lpstr>In this session</vt:lpstr>
      <vt:lpstr>Handling Categorical Attributes</vt:lpstr>
      <vt:lpstr>Handling Categorical Attributes</vt:lpstr>
      <vt:lpstr>Handling Categorical Attributes</vt:lpstr>
      <vt:lpstr>PowerPoint Presentation</vt:lpstr>
      <vt:lpstr>One-Hot Encoding</vt:lpstr>
      <vt:lpstr>Memory Efficiency</vt:lpstr>
      <vt:lpstr>Embeddings</vt:lpstr>
      <vt:lpstr>Embeddings</vt:lpstr>
      <vt:lpstr>Transformer Classes</vt:lpstr>
      <vt:lpstr>Transformer Classes</vt:lpstr>
      <vt:lpstr>Example Class</vt:lpstr>
      <vt:lpstr>Feature Scaling</vt:lpstr>
      <vt:lpstr>Min-max Scaling</vt:lpstr>
      <vt:lpstr>Standardisation</vt:lpstr>
      <vt:lpstr>Transformation Pipelines</vt:lpstr>
      <vt:lpstr>Transformation Pipeline Example</vt:lpstr>
      <vt:lpstr>And a Categorical pipeline</vt:lpstr>
      <vt:lpstr>And that is it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Blueprint Plans</dc:title>
  <dc:creator>William Sayers</dc:creator>
  <cp:lastModifiedBy>Shadeepa Karunarathne</cp:lastModifiedBy>
  <cp:revision>32</cp:revision>
  <dcterms:created xsi:type="dcterms:W3CDTF">2021-03-09T19:36:44Z</dcterms:created>
  <dcterms:modified xsi:type="dcterms:W3CDTF">2022-05-05T07:06:37Z</dcterms:modified>
</cp:coreProperties>
</file>